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8288000" cy="10287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2130425"/>
            <a:ext cx="7772400" cy="1470025"/>
          </a:xfrm>
          <a:prstGeom prst="rect">
            <a:avLst/>
          </a:prstGeom>
        </p:spPr>
        <p:txBody>
          <a:bodyPr/>
          <a:lstStyle/>
          <a:p>
            <a:pPr/>
            <a:r>
              <a:t>Title Text</a:t>
            </a:r>
          </a:p>
        </p:txBody>
      </p:sp>
      <p:sp>
        <p:nvSpPr>
          <p:cNvPr id="12" name="Body Level One…"/>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xfrm>
            <a:off x="457200" y="274638"/>
            <a:ext cx="8229600" cy="1143001"/>
          </a:xfrm>
          <a:prstGeom prst="rect">
            <a:avLst/>
          </a:prstGeom>
        </p:spPr>
        <p:txBody>
          <a:bodyPr/>
          <a:lstStyle/>
          <a:p>
            <a:pPr/>
            <a:r>
              <a:t>Title Text</a:t>
            </a:r>
          </a:p>
        </p:txBody>
      </p:sp>
      <p:sp>
        <p:nvSpPr>
          <p:cNvPr id="21" name="Body Level One…"/>
          <p:cNvSpPr txBox="1"/>
          <p:nvPr>
            <p:ph type="body" sz="quarter" idx="1"/>
          </p:nvPr>
        </p:nvSpPr>
        <p:spPr>
          <a:xfrm>
            <a:off x="457200" y="1600200"/>
            <a:ext cx="8229600" cy="452596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722312" y="4406900"/>
            <a:ext cx="7772401" cy="1362075"/>
          </a:xfrm>
          <a:prstGeom prst="rect">
            <a:avLst/>
          </a:prstGeom>
        </p:spPr>
        <p:txBody>
          <a:bodyPr anchor="t"/>
          <a:lstStyle>
            <a:lvl1pPr algn="l">
              <a:defRPr b="1" cap="all" sz="4000"/>
            </a:lvl1pPr>
          </a:lstStyle>
          <a:p>
            <a:pPr/>
            <a:r>
              <a:t>Title Text</a:t>
            </a:r>
          </a:p>
        </p:txBody>
      </p:sp>
      <p:sp>
        <p:nvSpPr>
          <p:cNvPr id="30" name="Body Level One…"/>
          <p:cNvSpPr txBox="1"/>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xfrm>
            <a:off x="457200" y="274638"/>
            <a:ext cx="8229600" cy="1143001"/>
          </a:xfrm>
          <a:prstGeom prst="rect">
            <a:avLst/>
          </a:prstGeom>
        </p:spPr>
        <p:txBody>
          <a:bodyPr/>
          <a:lstStyle/>
          <a:p>
            <a:pPr/>
            <a:r>
              <a:t>Title Text</a:t>
            </a:r>
          </a:p>
        </p:txBody>
      </p:sp>
      <p:sp>
        <p:nvSpPr>
          <p:cNvPr id="39" name="Body Level One…"/>
          <p:cNvSpPr txBox="1"/>
          <p:nvPr>
            <p:ph type="body" sz="quarter"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457200" y="274638"/>
            <a:ext cx="8229600" cy="1143001"/>
          </a:xfrm>
          <a:prstGeom prst="rect">
            <a:avLst/>
          </a:prstGeom>
        </p:spPr>
        <p:txBody>
          <a:bodyPr/>
          <a:lstStyle/>
          <a:p>
            <a:pPr/>
            <a:r>
              <a:t>Title Text</a:t>
            </a:r>
          </a:p>
        </p:txBody>
      </p:sp>
      <p:sp>
        <p:nvSpPr>
          <p:cNvPr id="48" name="Body Level One…"/>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xfrm>
            <a:off x="457200" y="274638"/>
            <a:ext cx="8229600" cy="1143001"/>
          </a:xfrm>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457200" y="273050"/>
            <a:ext cx="3008314" cy="1162050"/>
          </a:xfrm>
          <a:prstGeom prst="rect">
            <a:avLst/>
          </a:prstGeom>
        </p:spPr>
        <p:txBody>
          <a:bodyPr anchor="b"/>
          <a:lstStyle>
            <a:lvl1pPr algn="l">
              <a:defRPr b="1" sz="2000"/>
            </a:lvl1pPr>
          </a:lstStyle>
          <a:p>
            <a:pPr/>
            <a:r>
              <a:t>Title Text</a:t>
            </a:r>
          </a:p>
        </p:txBody>
      </p:sp>
      <p:sp>
        <p:nvSpPr>
          <p:cNvPr id="73" name="Body Level One…"/>
          <p:cNvSpPr txBox="1"/>
          <p:nvPr>
            <p:ph type="body" sz="quarter"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457199" y="1435100"/>
            <a:ext cx="3008315" cy="4691063"/>
          </a:xfrm>
          <a:prstGeom prst="rect">
            <a:avLst/>
          </a:prstGeom>
        </p:spPr>
        <p:txBody>
          <a:bodyPr/>
          <a:lstStyle/>
          <a:p>
            <a:pPr marL="0" indent="0">
              <a:spcBef>
                <a:spcPts val="300"/>
              </a:spcBef>
              <a:buSzTx/>
              <a:buFontTx/>
              <a:buNone/>
              <a:defRPr sz="14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92288" y="4800600"/>
            <a:ext cx="5486401" cy="566738"/>
          </a:xfrm>
          <a:prstGeom prst="rect">
            <a:avLst/>
          </a:prstGeom>
        </p:spPr>
        <p:txBody>
          <a:bodyPr anchor="b"/>
          <a:lstStyle>
            <a:lvl1pPr algn="l">
              <a:defRPr b="1" sz="2000"/>
            </a:lvl1pPr>
          </a:lstStyle>
          <a:p>
            <a:pPr/>
            <a:r>
              <a:t>Title Text</a:t>
            </a:r>
          </a:p>
        </p:txBody>
      </p:sp>
      <p:sp>
        <p:nvSpPr>
          <p:cNvPr id="83" name="Picture Placeholder 2"/>
          <p:cNvSpPr/>
          <p:nvPr>
            <p:ph type="pic" sz="quarter" idx="21"/>
          </p:nvPr>
        </p:nvSpPr>
        <p:spPr>
          <a:xfrm>
            <a:off x="1792288" y="612775"/>
            <a:ext cx="5486401" cy="4114800"/>
          </a:xfrm>
          <a:prstGeom prst="rect">
            <a:avLst/>
          </a:prstGeom>
        </p:spPr>
        <p:txBody>
          <a:bodyPr lIns="91439" rIns="91439">
            <a:noAutofit/>
          </a:bodyPr>
          <a:lstStyle/>
          <a:p>
            <a:pPr/>
          </a:p>
        </p:txBody>
      </p:sp>
      <p:sp>
        <p:nvSpPr>
          <p:cNvPr id="84" name="Body Level One…"/>
          <p:cNvSpPr txBox="1"/>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914400" y="138112"/>
            <a:ext cx="16459200" cy="22621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914400" y="2400300"/>
            <a:ext cx="16459200" cy="788670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28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tif"/></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sp>
        <p:nvSpPr>
          <p:cNvPr id="94" name="Freeform 11"/>
          <p:cNvSpPr/>
          <p:nvPr/>
        </p:nvSpPr>
        <p:spPr>
          <a:xfrm>
            <a:off x="11762088" y="-9632634"/>
            <a:ext cx="10994425" cy="10994425"/>
          </a:xfrm>
          <a:prstGeom prst="ellipse">
            <a:avLst/>
          </a:prstGeom>
          <a:ln w="514350" cap="sq">
            <a:solidFill>
              <a:srgbClr val="FD6220">
                <a:alpha val="11765"/>
              </a:srgbClr>
            </a:solidFill>
            <a:miter/>
          </a:ln>
        </p:spPr>
        <p:txBody>
          <a:bodyPr lIns="45719" rIns="45719"/>
          <a:lstStyle/>
          <a:p>
            <a:pPr/>
          </a:p>
        </p:txBody>
      </p:sp>
      <p:sp>
        <p:nvSpPr>
          <p:cNvPr id="95" name="Freeform 20"/>
          <p:cNvSpPr/>
          <p:nvPr/>
        </p:nvSpPr>
        <p:spPr>
          <a:xfrm>
            <a:off x="-9965724" y="-1383136"/>
            <a:ext cx="10994424" cy="10994424"/>
          </a:xfrm>
          <a:prstGeom prst="ellipse">
            <a:avLst/>
          </a:prstGeom>
          <a:ln w="514350" cap="sq">
            <a:solidFill>
              <a:srgbClr val="FD6220">
                <a:alpha val="11765"/>
              </a:srgbClr>
            </a:solidFill>
            <a:miter/>
          </a:ln>
        </p:spPr>
        <p:txBody>
          <a:bodyPr lIns="45719" rIns="45719"/>
          <a:lstStyle/>
          <a:p>
            <a:pPr/>
          </a:p>
        </p:txBody>
      </p:sp>
      <p:pic>
        <p:nvPicPr>
          <p:cNvPr id="96" name="Picture 22" descr="Picture 22"/>
          <p:cNvPicPr>
            <a:picLocks noChangeAspect="1"/>
          </p:cNvPicPr>
          <p:nvPr/>
        </p:nvPicPr>
        <p:blipFill>
          <a:blip r:embed="rId2">
            <a:extLst/>
          </a:blip>
          <a:stretch>
            <a:fillRect/>
          </a:stretch>
        </p:blipFill>
        <p:spPr>
          <a:xfrm>
            <a:off x="6610443" y="196688"/>
            <a:ext cx="4752248" cy="1360613"/>
          </a:xfrm>
          <a:prstGeom prst="rect">
            <a:avLst/>
          </a:prstGeom>
          <a:ln w="12700">
            <a:miter lim="400000"/>
          </a:ln>
        </p:spPr>
      </p:pic>
      <p:sp>
        <p:nvSpPr>
          <p:cNvPr id="97" name="TextBox 23"/>
          <p:cNvSpPr txBox="1"/>
          <p:nvPr/>
        </p:nvSpPr>
        <p:spPr>
          <a:xfrm>
            <a:off x="1405721" y="1608481"/>
            <a:ext cx="15834361" cy="1564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3200">
                <a:latin typeface="Cambria"/>
                <a:ea typeface="Cambria"/>
                <a:cs typeface="Cambria"/>
                <a:sym typeface="Cambria"/>
              </a:defRPr>
            </a:pPr>
            <a:r>
              <a:t>Vel Tech Rangarajan Dr. Sagunthala R&amp;D Institute of Science and Technology</a:t>
            </a:r>
          </a:p>
          <a:p>
            <a:pPr algn="ctr">
              <a:defRPr sz="3600">
                <a:latin typeface="Cambria"/>
                <a:ea typeface="Cambria"/>
                <a:cs typeface="Cambria"/>
                <a:sym typeface="Cambria"/>
              </a:defRPr>
            </a:pPr>
            <a:r>
              <a:t>School of Computing </a:t>
            </a:r>
          </a:p>
          <a:p>
            <a:pPr algn="ctr">
              <a:defRPr sz="3200">
                <a:latin typeface="Cambria"/>
                <a:ea typeface="Cambria"/>
                <a:cs typeface="Cambria"/>
                <a:sym typeface="Cambria"/>
              </a:defRPr>
            </a:pPr>
            <a:r>
              <a:t>Department of Computer Science and Engineering</a:t>
            </a:r>
          </a:p>
        </p:txBody>
      </p:sp>
      <p:sp>
        <p:nvSpPr>
          <p:cNvPr id="98" name="TextBox 25"/>
          <p:cNvSpPr txBox="1"/>
          <p:nvPr/>
        </p:nvSpPr>
        <p:spPr>
          <a:xfrm>
            <a:off x="1738554" y="3272356"/>
            <a:ext cx="15168697" cy="497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800">
                <a:solidFill>
                  <a:srgbClr val="0033CC"/>
                </a:solidFill>
                <a:latin typeface="Bookman Old Style"/>
                <a:ea typeface="Bookman Old Style"/>
                <a:cs typeface="Bookman Old Style"/>
                <a:sym typeface="Bookman Old Style"/>
              </a:defRPr>
            </a:lvl1pPr>
          </a:lstStyle>
          <a:p>
            <a:pPr/>
            <a:r>
              <a:t>10211CS224 / FULL STACK APPLICATION DEVELOPMENT (JAVA)</a:t>
            </a:r>
          </a:p>
        </p:txBody>
      </p:sp>
      <p:sp>
        <p:nvSpPr>
          <p:cNvPr id="99" name="TextBox 26"/>
          <p:cNvSpPr txBox="1"/>
          <p:nvPr/>
        </p:nvSpPr>
        <p:spPr>
          <a:xfrm>
            <a:off x="3773476" y="3897939"/>
            <a:ext cx="11098850" cy="167668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3600">
                <a:solidFill>
                  <a:srgbClr val="C00000"/>
                </a:solidFill>
                <a:latin typeface="Arial"/>
                <a:ea typeface="Arial"/>
                <a:cs typeface="Arial"/>
                <a:sym typeface="Arial"/>
              </a:defRPr>
            </a:pPr>
            <a:r>
              <a:t>PROJECT REVIEW : MILESTONE PROJECT – 2</a:t>
            </a:r>
          </a:p>
          <a:p>
            <a:pPr algn="ctr">
              <a:defRPr b="1" sz="3600">
                <a:solidFill>
                  <a:srgbClr val="C00000"/>
                </a:solidFill>
                <a:latin typeface="Arial"/>
                <a:ea typeface="Arial"/>
                <a:cs typeface="Arial"/>
                <a:sym typeface="Arial"/>
              </a:defRPr>
            </a:pPr>
          </a:p>
          <a:p>
            <a:pPr algn="ctr">
              <a:defRPr b="1" sz="3600">
                <a:solidFill>
                  <a:srgbClr val="C00000"/>
                </a:solidFill>
                <a:latin typeface="Arial"/>
                <a:ea typeface="Arial"/>
                <a:cs typeface="Arial"/>
                <a:sym typeface="Arial"/>
              </a:defRPr>
            </a:pPr>
            <a:r>
              <a:t>Date: 18-04-2026</a:t>
            </a:r>
          </a:p>
        </p:txBody>
      </p:sp>
      <p:sp>
        <p:nvSpPr>
          <p:cNvPr id="100" name="TextBox 12"/>
          <p:cNvSpPr txBox="1"/>
          <p:nvPr/>
        </p:nvSpPr>
        <p:spPr>
          <a:xfrm>
            <a:off x="1547359" y="6057899"/>
            <a:ext cx="15692724" cy="54407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3200">
                <a:solidFill>
                  <a:srgbClr val="0033CC"/>
                </a:solidFill>
                <a:latin typeface="Times New Roman"/>
                <a:ea typeface="Times New Roman"/>
                <a:cs typeface="Times New Roman"/>
                <a:sym typeface="Times New Roman"/>
              </a:defRPr>
            </a:lvl1pPr>
          </a:lstStyle>
          <a:p>
            <a:pPr/>
            <a:r>
              <a:t>Web Application For Ticket Booking of an Internal Department Event</a:t>
            </a:r>
          </a:p>
        </p:txBody>
      </p:sp>
      <p:sp>
        <p:nvSpPr>
          <p:cNvPr id="101" name="TextBox 13"/>
          <p:cNvSpPr txBox="1"/>
          <p:nvPr/>
        </p:nvSpPr>
        <p:spPr>
          <a:xfrm>
            <a:off x="939589" y="7825939"/>
            <a:ext cx="8976361" cy="1920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50000"/>
              </a:lnSpc>
              <a:defRPr sz="3000">
                <a:latin typeface="Cambria"/>
                <a:ea typeface="Cambria"/>
                <a:cs typeface="Cambria"/>
                <a:sym typeface="Cambria"/>
              </a:defRPr>
            </a:pPr>
            <a:r>
              <a:t>Presented By:</a:t>
            </a:r>
          </a:p>
          <a:p>
            <a:pPr>
              <a:lnSpc>
                <a:spcPct val="150000"/>
              </a:lnSpc>
              <a:defRPr sz="3000">
                <a:latin typeface="Cambria"/>
                <a:ea typeface="Cambria"/>
                <a:cs typeface="Cambria"/>
                <a:sym typeface="Cambria"/>
              </a:defRPr>
            </a:pPr>
            <a:r>
              <a:t>V DEVANANDA SAI – VTU24623 – Reg.No.23UECS0914</a:t>
            </a:r>
          </a:p>
        </p:txBody>
      </p:sp>
      <p:sp>
        <p:nvSpPr>
          <p:cNvPr id="102" name="TextBox 14"/>
          <p:cNvSpPr txBox="1"/>
          <p:nvPr/>
        </p:nvSpPr>
        <p:spPr>
          <a:xfrm>
            <a:off x="10990755" y="7818586"/>
            <a:ext cx="6823163" cy="11928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50000"/>
              </a:lnSpc>
              <a:defRPr sz="3000">
                <a:latin typeface="Cambria"/>
                <a:ea typeface="Cambria"/>
                <a:cs typeface="Cambria"/>
                <a:sym typeface="Cambria"/>
              </a:defRPr>
            </a:pPr>
            <a:r>
              <a:t>Courses Handling Faculty:</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000">
                <a:latin typeface="Times New Roman"/>
                <a:ea typeface="Times New Roman"/>
                <a:cs typeface="Times New Roman"/>
                <a:sym typeface="Times New Roman"/>
              </a:defRPr>
            </a:pPr>
            <a:r>
              <a:t>Dr./Mrs. AMU - Assistant Professor(SG)</a:t>
            </a:r>
          </a:p>
        </p:txBody>
      </p:sp>
      <p:sp>
        <p:nvSpPr>
          <p:cNvPr id="103" name="TextBox 15"/>
          <p:cNvSpPr txBox="1"/>
          <p:nvPr/>
        </p:nvSpPr>
        <p:spPr>
          <a:xfrm>
            <a:off x="2067856" y="7009487"/>
            <a:ext cx="14651730" cy="383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000">
                <a:latin typeface="Cambria"/>
                <a:ea typeface="Cambria"/>
                <a:cs typeface="Cambria"/>
                <a:sym typeface="Cambria"/>
              </a:defRPr>
            </a:lvl1pPr>
          </a:lstStyle>
          <a:p>
            <a:pPr/>
            <a:r>
              <a:t>SDG: SDG 9 – Industry, Innovation and Infrastructure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sp>
        <p:nvSpPr>
          <p:cNvPr id="105" name="Freeform 8"/>
          <p:cNvSpPr/>
          <p:nvPr/>
        </p:nvSpPr>
        <p:spPr>
          <a:xfrm>
            <a:off x="16313419" y="910464"/>
            <a:ext cx="945881" cy="236471"/>
          </a:xfrm>
          <a:prstGeom prst="rect">
            <a:avLst/>
          </a:prstGeom>
          <a:blipFill>
            <a:blip r:embed="rId2"/>
            <a:stretch>
              <a:fillRect/>
            </a:stretch>
          </a:blipFill>
          <a:ln w="12700">
            <a:miter lim="400000"/>
          </a:ln>
        </p:spPr>
        <p:txBody>
          <a:bodyPr lIns="45719" rIns="45719"/>
          <a:lstStyle/>
          <a:p>
            <a:pPr/>
          </a:p>
        </p:txBody>
      </p:sp>
      <p:grpSp>
        <p:nvGrpSpPr>
          <p:cNvPr id="108" name="Group 9"/>
          <p:cNvGrpSpPr/>
          <p:nvPr/>
        </p:nvGrpSpPr>
        <p:grpSpPr>
          <a:xfrm>
            <a:off x="706081" y="1952202"/>
            <a:ext cx="992464" cy="992464"/>
            <a:chOff x="0" y="0"/>
            <a:chExt cx="992462" cy="992462"/>
          </a:xfrm>
        </p:grpSpPr>
        <p:sp>
          <p:nvSpPr>
            <p:cNvPr id="106" name="Freeform 10"/>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107" name="TextBox 11"/>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1</a:t>
              </a:r>
            </a:p>
          </p:txBody>
        </p:sp>
      </p:grpSp>
      <p:grpSp>
        <p:nvGrpSpPr>
          <p:cNvPr id="111" name="Group 12"/>
          <p:cNvGrpSpPr/>
          <p:nvPr/>
        </p:nvGrpSpPr>
        <p:grpSpPr>
          <a:xfrm>
            <a:off x="948235" y="4447339"/>
            <a:ext cx="508159" cy="543806"/>
            <a:chOff x="0" y="0"/>
            <a:chExt cx="508157" cy="543804"/>
          </a:xfrm>
        </p:grpSpPr>
        <p:sp>
          <p:nvSpPr>
            <p:cNvPr id="109" name="Freeform 1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10" name="TextBox 1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114" name="Group 15"/>
          <p:cNvGrpSpPr/>
          <p:nvPr/>
        </p:nvGrpSpPr>
        <p:grpSpPr>
          <a:xfrm>
            <a:off x="948235" y="3107362"/>
            <a:ext cx="508159" cy="543806"/>
            <a:chOff x="0" y="0"/>
            <a:chExt cx="508157" cy="543804"/>
          </a:xfrm>
        </p:grpSpPr>
        <p:sp>
          <p:nvSpPr>
            <p:cNvPr id="112" name="Freeform 1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13" name="TextBox 1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117" name="Group 18"/>
          <p:cNvGrpSpPr/>
          <p:nvPr/>
        </p:nvGrpSpPr>
        <p:grpSpPr>
          <a:xfrm>
            <a:off x="948235" y="5115752"/>
            <a:ext cx="508159" cy="543806"/>
            <a:chOff x="0" y="0"/>
            <a:chExt cx="508157" cy="543804"/>
          </a:xfrm>
        </p:grpSpPr>
        <p:sp>
          <p:nvSpPr>
            <p:cNvPr id="115" name="Freeform 1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16" name="TextBox 2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120" name="Group 21"/>
          <p:cNvGrpSpPr/>
          <p:nvPr/>
        </p:nvGrpSpPr>
        <p:grpSpPr>
          <a:xfrm>
            <a:off x="948235" y="3776486"/>
            <a:ext cx="508159" cy="543806"/>
            <a:chOff x="0" y="0"/>
            <a:chExt cx="508157" cy="543804"/>
          </a:xfrm>
        </p:grpSpPr>
        <p:sp>
          <p:nvSpPr>
            <p:cNvPr id="118" name="Freeform 2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19" name="TextBox 2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123" name="Group 24"/>
          <p:cNvGrpSpPr/>
          <p:nvPr/>
        </p:nvGrpSpPr>
        <p:grpSpPr>
          <a:xfrm>
            <a:off x="948235" y="6455729"/>
            <a:ext cx="508159" cy="543806"/>
            <a:chOff x="0" y="0"/>
            <a:chExt cx="508157" cy="543804"/>
          </a:xfrm>
        </p:grpSpPr>
        <p:sp>
          <p:nvSpPr>
            <p:cNvPr id="121" name="Freeform 2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22" name="TextBox 2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126" name="Group 27"/>
          <p:cNvGrpSpPr/>
          <p:nvPr/>
        </p:nvGrpSpPr>
        <p:grpSpPr>
          <a:xfrm>
            <a:off x="948235" y="5784877"/>
            <a:ext cx="508159" cy="543806"/>
            <a:chOff x="0" y="0"/>
            <a:chExt cx="508157" cy="543804"/>
          </a:xfrm>
        </p:grpSpPr>
        <p:sp>
          <p:nvSpPr>
            <p:cNvPr id="124" name="Freeform 2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25" name="TextBox 2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129" name="Group 36"/>
          <p:cNvGrpSpPr/>
          <p:nvPr/>
        </p:nvGrpSpPr>
        <p:grpSpPr>
          <a:xfrm>
            <a:off x="948235" y="7123361"/>
            <a:ext cx="508159" cy="543806"/>
            <a:chOff x="0" y="0"/>
            <a:chExt cx="508157" cy="543804"/>
          </a:xfrm>
        </p:grpSpPr>
        <p:sp>
          <p:nvSpPr>
            <p:cNvPr id="127" name="Freeform 3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28" name="TextBox 3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132" name="Group 39"/>
          <p:cNvGrpSpPr/>
          <p:nvPr/>
        </p:nvGrpSpPr>
        <p:grpSpPr>
          <a:xfrm>
            <a:off x="948235" y="7790991"/>
            <a:ext cx="508159" cy="543806"/>
            <a:chOff x="0" y="0"/>
            <a:chExt cx="508157" cy="543804"/>
          </a:xfrm>
        </p:grpSpPr>
        <p:sp>
          <p:nvSpPr>
            <p:cNvPr id="130" name="Freeform 4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31" name="TextBox 4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133" name="TextBox 1"/>
          <p:cNvSpPr txBox="1"/>
          <p:nvPr/>
        </p:nvSpPr>
        <p:spPr>
          <a:xfrm>
            <a:off x="198119" y="342899"/>
            <a:ext cx="180441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INTRODUCTION</a:t>
            </a:r>
          </a:p>
        </p:txBody>
      </p:sp>
      <p:sp>
        <p:nvSpPr>
          <p:cNvPr id="134" name="TextBox 2"/>
          <p:cNvSpPr txBox="1"/>
          <p:nvPr/>
        </p:nvSpPr>
        <p:spPr>
          <a:xfrm>
            <a:off x="2227362" y="1300415"/>
            <a:ext cx="14990886" cy="149735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sz="3200">
                <a:latin typeface="Times New Roman"/>
                <a:ea typeface="Times New Roman"/>
                <a:cs typeface="Times New Roman"/>
                <a:sym typeface="Times New Roman"/>
              </a:defRPr>
            </a:pPr>
            <a:r>
              <a:rPr b="1"/>
              <a:t>Background of the Problem:</a:t>
            </a:r>
            <a:br/>
            <a:r>
              <a:t>Traditional event booking systems are often manual or lack proper validation, leading to overbooking, errors, and inefficient management of event registrations.</a:t>
            </a:r>
          </a:p>
          <a:p>
            <a:pPr defTabSz="457200">
              <a:spcBef>
                <a:spcPts val="1200"/>
              </a:spcBef>
              <a:defRPr sz="3200">
                <a:latin typeface="Times New Roman"/>
                <a:ea typeface="Times New Roman"/>
                <a:cs typeface="Times New Roman"/>
                <a:sym typeface="Times New Roman"/>
              </a:defRPr>
            </a:pPr>
          </a:p>
          <a:p>
            <a:pPr defTabSz="457200">
              <a:spcBef>
                <a:spcPts val="1200"/>
              </a:spcBef>
              <a:defRPr sz="3200">
                <a:latin typeface="Times New Roman"/>
                <a:ea typeface="Times New Roman"/>
                <a:cs typeface="Times New Roman"/>
                <a:sym typeface="Times New Roman"/>
              </a:defRPr>
            </a:pPr>
            <a:r>
              <a:rPr b="1"/>
              <a:t>Why this Project is Important:</a:t>
            </a:r>
            <a:br/>
            <a:r>
              <a:t>This project provides an automated and user-friendly ticket booking system that ensures accurate data handling, prevents overbooking, and improves user experience.</a:t>
            </a:r>
          </a:p>
          <a:p>
            <a:pPr defTabSz="457200">
              <a:spcBef>
                <a:spcPts val="1200"/>
              </a:spcBef>
              <a:defRPr sz="3200">
                <a:latin typeface="Times New Roman"/>
                <a:ea typeface="Times New Roman"/>
                <a:cs typeface="Times New Roman"/>
                <a:sym typeface="Times New Roman"/>
              </a:defRPr>
            </a:pPr>
          </a:p>
          <a:p>
            <a:pPr defTabSz="457200">
              <a:spcBef>
                <a:spcPts val="1200"/>
              </a:spcBef>
              <a:defRPr sz="3200">
                <a:latin typeface="Times New Roman"/>
                <a:ea typeface="Times New Roman"/>
                <a:cs typeface="Times New Roman"/>
                <a:sym typeface="Times New Roman"/>
              </a:defRPr>
            </a:pPr>
            <a:r>
              <a:rPr b="1"/>
              <a:t>Real-World Relevance:</a:t>
            </a:r>
            <a:br/>
            <a:r>
              <a:t>Online ticket booking systems are widely used in colleges, organizations, and events to simplify registration, manage attendees, and provide instant confirmations.</a:t>
            </a:r>
          </a:p>
          <a:p>
            <a:pPr defTabSz="457200">
              <a:spcBef>
                <a:spcPts val="1200"/>
              </a:spcBef>
              <a:defRPr sz="3200">
                <a:latin typeface="Times New Roman"/>
                <a:ea typeface="Times New Roman"/>
                <a:cs typeface="Times New Roman"/>
                <a:sym typeface="Times New Roman"/>
              </a:defRPr>
            </a:pPr>
          </a:p>
          <a:p>
            <a:pPr defTabSz="457200">
              <a:spcBef>
                <a:spcPts val="1200"/>
              </a:spcBef>
              <a:defRPr sz="3200">
                <a:latin typeface="Times New Roman"/>
                <a:ea typeface="Times New Roman"/>
                <a:cs typeface="Times New Roman"/>
                <a:sym typeface="Times New Roman"/>
              </a:defRPr>
            </a:pPr>
            <a:r>
              <a:rPr b="1"/>
              <a:t>Brief Overview of the System:</a:t>
            </a:r>
            <a:br/>
            <a:r>
              <a:t>The application is a React JS-based web system that allows users to view event details and book tickets online, with real-time validation, booking confirmation, and automatic update of available tickets.</a:t>
            </a:r>
          </a:p>
          <a:p>
            <a:pPr defTabSz="457200">
              <a:spcBef>
                <a:spcPts val="1200"/>
              </a:spcBef>
              <a:defRPr sz="1200">
                <a:latin typeface="Times Roman"/>
                <a:ea typeface="Times Roman"/>
                <a:cs typeface="Times Roman"/>
                <a:sym typeface="Times Roman"/>
              </a:defRPr>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sp>
        <p:nvSpPr>
          <p:cNvPr id="136" name="Freeform 10"/>
          <p:cNvSpPr/>
          <p:nvPr/>
        </p:nvSpPr>
        <p:spPr>
          <a:xfrm>
            <a:off x="16313419" y="910464"/>
            <a:ext cx="945881" cy="236471"/>
          </a:xfrm>
          <a:prstGeom prst="rect">
            <a:avLst/>
          </a:prstGeom>
          <a:blipFill>
            <a:blip r:embed="rId2"/>
            <a:stretch>
              <a:fillRect/>
            </a:stretch>
          </a:blipFill>
          <a:ln w="12700">
            <a:miter lim="400000"/>
          </a:ln>
        </p:spPr>
        <p:txBody>
          <a:bodyPr lIns="45719" rIns="45719"/>
          <a:lstStyle/>
          <a:p>
            <a:pPr/>
          </a:p>
        </p:txBody>
      </p:sp>
      <p:grpSp>
        <p:nvGrpSpPr>
          <p:cNvPr id="139" name="Group 11"/>
          <p:cNvGrpSpPr/>
          <p:nvPr/>
        </p:nvGrpSpPr>
        <p:grpSpPr>
          <a:xfrm>
            <a:off x="709356" y="2648112"/>
            <a:ext cx="992464" cy="992463"/>
            <a:chOff x="0" y="0"/>
            <a:chExt cx="992462" cy="992462"/>
          </a:xfrm>
        </p:grpSpPr>
        <p:sp>
          <p:nvSpPr>
            <p:cNvPr id="137" name="Freeform 12"/>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138" name="TextBox 13"/>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2</a:t>
              </a:r>
            </a:p>
          </p:txBody>
        </p:sp>
      </p:grpSp>
      <p:grpSp>
        <p:nvGrpSpPr>
          <p:cNvPr id="142" name="Group 14"/>
          <p:cNvGrpSpPr/>
          <p:nvPr/>
        </p:nvGrpSpPr>
        <p:grpSpPr>
          <a:xfrm>
            <a:off x="951508" y="4428295"/>
            <a:ext cx="508159" cy="543806"/>
            <a:chOff x="0" y="0"/>
            <a:chExt cx="508157" cy="543804"/>
          </a:xfrm>
        </p:grpSpPr>
        <p:sp>
          <p:nvSpPr>
            <p:cNvPr id="140" name="Freeform 1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41" name="TextBox 1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145" name="Group 17"/>
          <p:cNvGrpSpPr/>
          <p:nvPr/>
        </p:nvGrpSpPr>
        <p:grpSpPr>
          <a:xfrm>
            <a:off x="951508" y="1982348"/>
            <a:ext cx="508159" cy="543806"/>
            <a:chOff x="0" y="0"/>
            <a:chExt cx="508157" cy="543804"/>
          </a:xfrm>
        </p:grpSpPr>
        <p:sp>
          <p:nvSpPr>
            <p:cNvPr id="143" name="Freeform 1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44" name="TextBox 1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148" name="Group 20"/>
          <p:cNvGrpSpPr/>
          <p:nvPr/>
        </p:nvGrpSpPr>
        <p:grpSpPr>
          <a:xfrm>
            <a:off x="951508" y="5094058"/>
            <a:ext cx="508159" cy="543806"/>
            <a:chOff x="0" y="0"/>
            <a:chExt cx="508157" cy="543804"/>
          </a:xfrm>
        </p:grpSpPr>
        <p:sp>
          <p:nvSpPr>
            <p:cNvPr id="146" name="Freeform 2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47" name="TextBox 2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151" name="Group 23"/>
          <p:cNvGrpSpPr/>
          <p:nvPr/>
        </p:nvGrpSpPr>
        <p:grpSpPr>
          <a:xfrm>
            <a:off x="951508" y="3762533"/>
            <a:ext cx="508159" cy="543806"/>
            <a:chOff x="0" y="0"/>
            <a:chExt cx="508157" cy="543804"/>
          </a:xfrm>
        </p:grpSpPr>
        <p:sp>
          <p:nvSpPr>
            <p:cNvPr id="149" name="Freeform 2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50" name="TextBox 2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154" name="Group 26"/>
          <p:cNvGrpSpPr/>
          <p:nvPr/>
        </p:nvGrpSpPr>
        <p:grpSpPr>
          <a:xfrm>
            <a:off x="951508" y="6425584"/>
            <a:ext cx="508159" cy="543806"/>
            <a:chOff x="0" y="0"/>
            <a:chExt cx="508157" cy="543804"/>
          </a:xfrm>
        </p:grpSpPr>
        <p:sp>
          <p:nvSpPr>
            <p:cNvPr id="152" name="Freeform 2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53" name="TextBox 2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157" name="Group 29"/>
          <p:cNvGrpSpPr/>
          <p:nvPr/>
        </p:nvGrpSpPr>
        <p:grpSpPr>
          <a:xfrm>
            <a:off x="951508" y="5759822"/>
            <a:ext cx="508159" cy="543806"/>
            <a:chOff x="0" y="0"/>
            <a:chExt cx="508157" cy="543804"/>
          </a:xfrm>
        </p:grpSpPr>
        <p:sp>
          <p:nvSpPr>
            <p:cNvPr id="155" name="Freeform 3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56" name="TextBox 3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160" name="Group 36"/>
          <p:cNvGrpSpPr/>
          <p:nvPr/>
        </p:nvGrpSpPr>
        <p:grpSpPr>
          <a:xfrm>
            <a:off x="951508" y="7093215"/>
            <a:ext cx="508159" cy="543806"/>
            <a:chOff x="0" y="0"/>
            <a:chExt cx="508157" cy="543804"/>
          </a:xfrm>
        </p:grpSpPr>
        <p:sp>
          <p:nvSpPr>
            <p:cNvPr id="158" name="Freeform 3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59" name="TextBox 3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163" name="Group 39"/>
          <p:cNvGrpSpPr/>
          <p:nvPr/>
        </p:nvGrpSpPr>
        <p:grpSpPr>
          <a:xfrm>
            <a:off x="951508" y="7760845"/>
            <a:ext cx="508159" cy="543806"/>
            <a:chOff x="0" y="0"/>
            <a:chExt cx="508157" cy="543804"/>
          </a:xfrm>
        </p:grpSpPr>
        <p:sp>
          <p:nvSpPr>
            <p:cNvPr id="161" name="Freeform 4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62" name="TextBox 4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164" name="TextBox 46"/>
          <p:cNvSpPr txBox="1"/>
          <p:nvPr/>
        </p:nvSpPr>
        <p:spPr>
          <a:xfrm>
            <a:off x="198119" y="342899"/>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PROBLEM STATEMENT</a:t>
            </a:r>
          </a:p>
        </p:txBody>
      </p:sp>
      <p:sp>
        <p:nvSpPr>
          <p:cNvPr id="165" name="TextBox 47"/>
          <p:cNvSpPr txBox="1"/>
          <p:nvPr/>
        </p:nvSpPr>
        <p:spPr>
          <a:xfrm>
            <a:off x="2255519" y="1638299"/>
            <a:ext cx="14990886" cy="125859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sz="3200">
                <a:latin typeface="Times New Roman"/>
                <a:ea typeface="Times New Roman"/>
                <a:cs typeface="Times New Roman"/>
                <a:sym typeface="Times New Roman"/>
              </a:defRPr>
            </a:pPr>
            <a:r>
              <a:t>In many educational institutions, event ticket booking is often handled manually or through basic systems that lack proper validation and real-time updates. This can lead to issues such as overbooking, incorrect data entry, and confusion among participants. Users may not have clear visibility of available tickets, and organizers may struggle to manage registrations efficiently. Traditional methods also require more time and effort, reducing overall productivity and user satisfaction.</a:t>
            </a:r>
          </a:p>
          <a:p>
            <a:pPr defTabSz="457200">
              <a:spcBef>
                <a:spcPts val="1200"/>
              </a:spcBef>
              <a:defRPr sz="3200">
                <a:latin typeface="Times New Roman"/>
                <a:ea typeface="Times New Roman"/>
                <a:cs typeface="Times New Roman"/>
                <a:sym typeface="Times New Roman"/>
              </a:defRPr>
            </a:pPr>
            <a:r>
              <a:t>As the number of events and participants increases, there is a growing need for a reliable and automated booking system. Therefore, it is essential to develop a system that can provide accurate event details, validate user inputs, and update ticket availability dynamically. The proposed React JS-based Event Ticket Booking System aims to address these challenges by offering a user-friendly platform for viewing event information and booking tickets efficiently with proper validation and real-time updates.</a:t>
            </a:r>
          </a:p>
          <a:p>
            <a:pPr defTabSz="457200">
              <a:spcBef>
                <a:spcPts val="1200"/>
              </a:spcBef>
              <a:defRPr sz="1200">
                <a:latin typeface="Times Roman"/>
                <a:ea typeface="Times Roman"/>
                <a:cs typeface="Times Roman"/>
                <a:sym typeface="Times Roman"/>
              </a:defRPr>
            </a:pPr>
            <a:endParaRPr sz="2800"/>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169" name="Group 7"/>
          <p:cNvGrpSpPr/>
          <p:nvPr/>
        </p:nvGrpSpPr>
        <p:grpSpPr>
          <a:xfrm>
            <a:off x="709356" y="3315742"/>
            <a:ext cx="992464" cy="992464"/>
            <a:chOff x="0" y="0"/>
            <a:chExt cx="992462" cy="992462"/>
          </a:xfrm>
        </p:grpSpPr>
        <p:sp>
          <p:nvSpPr>
            <p:cNvPr id="167"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168" name="TextBox 9"/>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3</a:t>
              </a:r>
            </a:p>
          </p:txBody>
        </p:sp>
      </p:grpSp>
      <p:grpSp>
        <p:nvGrpSpPr>
          <p:cNvPr id="172" name="Group 10"/>
          <p:cNvGrpSpPr/>
          <p:nvPr/>
        </p:nvGrpSpPr>
        <p:grpSpPr>
          <a:xfrm>
            <a:off x="951508" y="4428295"/>
            <a:ext cx="508159" cy="543806"/>
            <a:chOff x="0" y="0"/>
            <a:chExt cx="508157" cy="543804"/>
          </a:xfrm>
        </p:grpSpPr>
        <p:sp>
          <p:nvSpPr>
            <p:cNvPr id="170"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71"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175" name="Group 13"/>
          <p:cNvGrpSpPr/>
          <p:nvPr/>
        </p:nvGrpSpPr>
        <p:grpSpPr>
          <a:xfrm>
            <a:off x="951508" y="1982348"/>
            <a:ext cx="508159" cy="543806"/>
            <a:chOff x="0" y="0"/>
            <a:chExt cx="508157" cy="543804"/>
          </a:xfrm>
        </p:grpSpPr>
        <p:sp>
          <p:nvSpPr>
            <p:cNvPr id="173"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74"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178" name="Group 16"/>
          <p:cNvGrpSpPr/>
          <p:nvPr/>
        </p:nvGrpSpPr>
        <p:grpSpPr>
          <a:xfrm>
            <a:off x="951508" y="5094058"/>
            <a:ext cx="508159" cy="543806"/>
            <a:chOff x="0" y="0"/>
            <a:chExt cx="508157" cy="543804"/>
          </a:xfrm>
        </p:grpSpPr>
        <p:sp>
          <p:nvSpPr>
            <p:cNvPr id="176"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77"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181" name="Group 19"/>
          <p:cNvGrpSpPr/>
          <p:nvPr/>
        </p:nvGrpSpPr>
        <p:grpSpPr>
          <a:xfrm>
            <a:off x="951508" y="2648112"/>
            <a:ext cx="508159" cy="543806"/>
            <a:chOff x="0" y="0"/>
            <a:chExt cx="508157" cy="543804"/>
          </a:xfrm>
        </p:grpSpPr>
        <p:sp>
          <p:nvSpPr>
            <p:cNvPr id="179"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80"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184" name="Group 22"/>
          <p:cNvGrpSpPr/>
          <p:nvPr/>
        </p:nvGrpSpPr>
        <p:grpSpPr>
          <a:xfrm>
            <a:off x="951508" y="6425584"/>
            <a:ext cx="508159" cy="543806"/>
            <a:chOff x="0" y="0"/>
            <a:chExt cx="508157" cy="543804"/>
          </a:xfrm>
        </p:grpSpPr>
        <p:sp>
          <p:nvSpPr>
            <p:cNvPr id="182"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83"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187" name="Group 25"/>
          <p:cNvGrpSpPr/>
          <p:nvPr/>
        </p:nvGrpSpPr>
        <p:grpSpPr>
          <a:xfrm>
            <a:off x="951508" y="5759822"/>
            <a:ext cx="508159" cy="543806"/>
            <a:chOff x="0" y="0"/>
            <a:chExt cx="508157" cy="543804"/>
          </a:xfrm>
        </p:grpSpPr>
        <p:sp>
          <p:nvSpPr>
            <p:cNvPr id="185"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86"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190" name="Group 41"/>
          <p:cNvGrpSpPr/>
          <p:nvPr/>
        </p:nvGrpSpPr>
        <p:grpSpPr>
          <a:xfrm>
            <a:off x="951508" y="7093215"/>
            <a:ext cx="508159" cy="543806"/>
            <a:chOff x="0" y="0"/>
            <a:chExt cx="508157" cy="543804"/>
          </a:xfrm>
        </p:grpSpPr>
        <p:sp>
          <p:nvSpPr>
            <p:cNvPr id="188" name="Freeform 4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89" name="TextBox 4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193" name="Group 44"/>
          <p:cNvGrpSpPr/>
          <p:nvPr/>
        </p:nvGrpSpPr>
        <p:grpSpPr>
          <a:xfrm>
            <a:off x="951508" y="7760845"/>
            <a:ext cx="508159" cy="543806"/>
            <a:chOff x="0" y="0"/>
            <a:chExt cx="508157" cy="543804"/>
          </a:xfrm>
        </p:grpSpPr>
        <p:sp>
          <p:nvSpPr>
            <p:cNvPr id="191" name="Freeform 4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92" name="TextBox 4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194" name="TextBox 49"/>
          <p:cNvSpPr txBox="1"/>
          <p:nvPr/>
        </p:nvSpPr>
        <p:spPr>
          <a:xfrm>
            <a:off x="198119" y="342899"/>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OBJECTIVE(S)</a:t>
            </a:r>
          </a:p>
        </p:txBody>
      </p:sp>
      <p:sp>
        <p:nvSpPr>
          <p:cNvPr id="195" name="Freeform 10"/>
          <p:cNvSpPr/>
          <p:nvPr/>
        </p:nvSpPr>
        <p:spPr>
          <a:xfrm>
            <a:off x="16313419" y="910464"/>
            <a:ext cx="945881" cy="236471"/>
          </a:xfrm>
          <a:prstGeom prst="rect">
            <a:avLst/>
          </a:prstGeom>
          <a:blipFill>
            <a:blip r:embed="rId2"/>
            <a:stretch>
              <a:fillRect/>
            </a:stretch>
          </a:blipFill>
          <a:ln w="12700">
            <a:miter lim="400000"/>
          </a:ln>
        </p:spPr>
        <p:txBody>
          <a:bodyPr lIns="45719" rIns="45719"/>
          <a:lstStyle/>
          <a:p>
            <a:pPr/>
          </a:p>
        </p:txBody>
      </p:sp>
      <p:sp>
        <p:nvSpPr>
          <p:cNvPr id="196" name="TextBox 51"/>
          <p:cNvSpPr txBox="1"/>
          <p:nvPr/>
        </p:nvSpPr>
        <p:spPr>
          <a:xfrm>
            <a:off x="1959870" y="2398540"/>
            <a:ext cx="14990886" cy="703605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20842" indent="-320842" defTabSz="457200">
              <a:spcBef>
                <a:spcPts val="1200"/>
              </a:spcBef>
              <a:buSzPct val="100000"/>
              <a:buChar char="•"/>
              <a:defRPr sz="3200">
                <a:latin typeface="Times New Roman"/>
                <a:ea typeface="Times New Roman"/>
                <a:cs typeface="Times New Roman"/>
                <a:sym typeface="Times New Roman"/>
              </a:defRPr>
            </a:pPr>
            <a:r>
              <a:rPr b="1"/>
              <a:t>To design and develop </a:t>
            </a:r>
            <a:r>
              <a:t>a web-based event ticket booking system that allows users to view event details and book tickets easily.</a:t>
            </a:r>
          </a:p>
          <a:p>
            <a:pPr marL="320842" indent="-320842" defTabSz="457200">
              <a:spcBef>
                <a:spcPts val="1200"/>
              </a:spcBef>
              <a:buSzPct val="100000"/>
              <a:buChar char="•"/>
              <a:defRPr sz="3200">
                <a:latin typeface="Times New Roman"/>
                <a:ea typeface="Times New Roman"/>
                <a:cs typeface="Times New Roman"/>
                <a:sym typeface="Times New Roman"/>
              </a:defRPr>
            </a:pPr>
          </a:p>
          <a:p>
            <a:pPr marL="320842" indent="-320842" defTabSz="457200">
              <a:spcBef>
                <a:spcPts val="1200"/>
              </a:spcBef>
              <a:buSzPct val="100000"/>
              <a:buChar char="•"/>
              <a:defRPr sz="3200">
                <a:latin typeface="Times New Roman"/>
                <a:ea typeface="Times New Roman"/>
                <a:cs typeface="Times New Roman"/>
                <a:sym typeface="Times New Roman"/>
              </a:defRPr>
            </a:pPr>
            <a:r>
              <a:t> </a:t>
            </a:r>
            <a:r>
              <a:rPr b="1"/>
              <a:t>To implement </a:t>
            </a:r>
            <a:r>
              <a:t>a validation mechanism that ensures correct user inputs and prevents booking more tickets than available.</a:t>
            </a:r>
          </a:p>
          <a:p>
            <a:pPr defTabSz="457200">
              <a:spcBef>
                <a:spcPts val="1200"/>
              </a:spcBef>
              <a:defRPr sz="1200">
                <a:latin typeface="Times Roman"/>
                <a:ea typeface="Times Roman"/>
                <a:cs typeface="Times Roman"/>
                <a:sym typeface="Times Roman"/>
              </a:defRPr>
            </a:pPr>
          </a:p>
          <a:p>
            <a:pP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200" name="Group 13"/>
          <p:cNvGrpSpPr/>
          <p:nvPr/>
        </p:nvGrpSpPr>
        <p:grpSpPr>
          <a:xfrm>
            <a:off x="709356" y="3983373"/>
            <a:ext cx="992464" cy="992464"/>
            <a:chOff x="0" y="0"/>
            <a:chExt cx="992462" cy="992462"/>
          </a:xfrm>
        </p:grpSpPr>
        <p:sp>
          <p:nvSpPr>
            <p:cNvPr id="198" name="Freeform 14"/>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199" name="TextBox 15"/>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4</a:t>
              </a:r>
            </a:p>
          </p:txBody>
        </p:sp>
      </p:grpSp>
      <p:grpSp>
        <p:nvGrpSpPr>
          <p:cNvPr id="203" name="Group 16"/>
          <p:cNvGrpSpPr/>
          <p:nvPr/>
        </p:nvGrpSpPr>
        <p:grpSpPr>
          <a:xfrm>
            <a:off x="951508" y="3315742"/>
            <a:ext cx="508159" cy="543806"/>
            <a:chOff x="0" y="0"/>
            <a:chExt cx="508157" cy="543804"/>
          </a:xfrm>
        </p:grpSpPr>
        <p:sp>
          <p:nvSpPr>
            <p:cNvPr id="201"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02"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206" name="Group 19"/>
          <p:cNvGrpSpPr/>
          <p:nvPr/>
        </p:nvGrpSpPr>
        <p:grpSpPr>
          <a:xfrm>
            <a:off x="951508" y="1982348"/>
            <a:ext cx="508159" cy="543806"/>
            <a:chOff x="0" y="0"/>
            <a:chExt cx="508157" cy="543804"/>
          </a:xfrm>
        </p:grpSpPr>
        <p:sp>
          <p:nvSpPr>
            <p:cNvPr id="204"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05"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209" name="Group 22"/>
          <p:cNvGrpSpPr/>
          <p:nvPr/>
        </p:nvGrpSpPr>
        <p:grpSpPr>
          <a:xfrm>
            <a:off x="951508" y="5094058"/>
            <a:ext cx="508159" cy="543806"/>
            <a:chOff x="0" y="0"/>
            <a:chExt cx="508157" cy="543804"/>
          </a:xfrm>
        </p:grpSpPr>
        <p:sp>
          <p:nvSpPr>
            <p:cNvPr id="207"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08"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212" name="Group 25"/>
          <p:cNvGrpSpPr/>
          <p:nvPr/>
        </p:nvGrpSpPr>
        <p:grpSpPr>
          <a:xfrm>
            <a:off x="951508" y="2648112"/>
            <a:ext cx="508159" cy="543806"/>
            <a:chOff x="0" y="0"/>
            <a:chExt cx="508157" cy="543804"/>
          </a:xfrm>
        </p:grpSpPr>
        <p:sp>
          <p:nvSpPr>
            <p:cNvPr id="210"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11"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215" name="Group 28"/>
          <p:cNvGrpSpPr/>
          <p:nvPr/>
        </p:nvGrpSpPr>
        <p:grpSpPr>
          <a:xfrm>
            <a:off x="951508" y="6425584"/>
            <a:ext cx="508159" cy="543806"/>
            <a:chOff x="0" y="0"/>
            <a:chExt cx="508157" cy="543804"/>
          </a:xfrm>
        </p:grpSpPr>
        <p:sp>
          <p:nvSpPr>
            <p:cNvPr id="213"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14"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218" name="Group 31"/>
          <p:cNvGrpSpPr/>
          <p:nvPr/>
        </p:nvGrpSpPr>
        <p:grpSpPr>
          <a:xfrm>
            <a:off x="951508" y="5759822"/>
            <a:ext cx="508159" cy="543806"/>
            <a:chOff x="0" y="0"/>
            <a:chExt cx="508157" cy="543804"/>
          </a:xfrm>
        </p:grpSpPr>
        <p:sp>
          <p:nvSpPr>
            <p:cNvPr id="216"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17"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221" name="Group 34"/>
          <p:cNvGrpSpPr/>
          <p:nvPr/>
        </p:nvGrpSpPr>
        <p:grpSpPr>
          <a:xfrm>
            <a:off x="951508" y="7093215"/>
            <a:ext cx="508159" cy="543806"/>
            <a:chOff x="0" y="0"/>
            <a:chExt cx="508157" cy="543804"/>
          </a:xfrm>
        </p:grpSpPr>
        <p:sp>
          <p:nvSpPr>
            <p:cNvPr id="219" name="Freeform 3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20" name="TextBox 3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224" name="Group 37"/>
          <p:cNvGrpSpPr/>
          <p:nvPr/>
        </p:nvGrpSpPr>
        <p:grpSpPr>
          <a:xfrm>
            <a:off x="951508" y="7760845"/>
            <a:ext cx="508159" cy="543806"/>
            <a:chOff x="0" y="0"/>
            <a:chExt cx="508157" cy="543804"/>
          </a:xfrm>
        </p:grpSpPr>
        <p:sp>
          <p:nvSpPr>
            <p:cNvPr id="222" name="Freeform 3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23" name="TextBox 3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225" name="Freeform 10"/>
          <p:cNvSpPr/>
          <p:nvPr/>
        </p:nvSpPr>
        <p:spPr>
          <a:xfrm>
            <a:off x="16313419" y="910464"/>
            <a:ext cx="945881" cy="236471"/>
          </a:xfrm>
          <a:prstGeom prst="rect">
            <a:avLst/>
          </a:prstGeom>
          <a:blipFill>
            <a:blip r:embed="rId2"/>
            <a:stretch>
              <a:fillRect/>
            </a:stretch>
          </a:blipFill>
          <a:ln w="12700">
            <a:miter lim="400000"/>
          </a:ln>
        </p:spPr>
        <p:txBody>
          <a:bodyPr lIns="45719" rIns="45719"/>
          <a:lstStyle/>
          <a:p>
            <a:pPr/>
          </a:p>
        </p:txBody>
      </p:sp>
      <p:sp>
        <p:nvSpPr>
          <p:cNvPr id="226" name="TextBox 45"/>
          <p:cNvSpPr txBox="1"/>
          <p:nvPr/>
        </p:nvSpPr>
        <p:spPr>
          <a:xfrm>
            <a:off x="198119" y="342899"/>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PROPOSED SYSTEM</a:t>
            </a:r>
          </a:p>
        </p:txBody>
      </p:sp>
      <p:sp>
        <p:nvSpPr>
          <p:cNvPr id="227" name="TextBox 47"/>
          <p:cNvSpPr txBox="1"/>
          <p:nvPr/>
        </p:nvSpPr>
        <p:spPr>
          <a:xfrm>
            <a:off x="1931713" y="1680535"/>
            <a:ext cx="14990886" cy="126875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sz="3200">
                <a:latin typeface="Times New Roman"/>
                <a:ea typeface="Times New Roman"/>
                <a:cs typeface="Times New Roman"/>
                <a:sym typeface="Times New Roman"/>
              </a:defRPr>
            </a:pPr>
            <a:r>
              <a:t>The proposed system is a React JS-based Event Ticket Booking application that allows users to view event details and book tickets through a simple web interface.</a:t>
            </a:r>
            <a:br/>
            <a:r>
              <a:t>• The system provides clear information about the event, including name, date, venue, ticket price, and available tickets.</a:t>
            </a:r>
            <a:br/>
            <a:r>
              <a:t>• Users can enter their details and book tickets easily using an interactive booking form.</a:t>
            </a:r>
            <a:br/>
            <a:r>
              <a:t>• The application includes validation to ensure all inputs are correct and prevents booking more tickets than available.</a:t>
            </a:r>
            <a:br/>
            <a:r>
              <a:t>• After successful booking, the available ticket count is automatically updated.</a:t>
            </a:r>
            <a:br/>
            <a:r>
              <a:t>• The system displays a confirmation message along with booking summary details for the user.</a:t>
            </a:r>
            <a:br/>
            <a:r>
              <a:t>• This approach eliminates errors and inefficiencies found in manual booking systems.</a:t>
            </a:r>
            <a:br/>
            <a:r>
              <a:t>• The user-friendly interface makes the booking process simple, fast, and reliable.</a:t>
            </a:r>
            <a:br/>
            <a:r>
              <a:t>• Compared to traditional methods, this system ensures better accuracy, improved management, and enhanced user experience.</a:t>
            </a:r>
          </a:p>
          <a:p>
            <a:pPr defTabSz="457200">
              <a:spcBef>
                <a:spcPts val="1200"/>
              </a:spcBef>
              <a:defRPr sz="1200">
                <a:latin typeface="Times Roman"/>
                <a:ea typeface="Times Roman"/>
                <a:cs typeface="Times Roman"/>
                <a:sym typeface="Times Roman"/>
              </a:defRPr>
            </a:pPr>
          </a:p>
          <a:p>
            <a:pPr lvl="1" marL="914400" indent="-457200">
              <a:buSzPct val="100000"/>
              <a:buFont typeface="Arial"/>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231" name="Group 5"/>
          <p:cNvGrpSpPr/>
          <p:nvPr/>
        </p:nvGrpSpPr>
        <p:grpSpPr>
          <a:xfrm>
            <a:off x="709356" y="4655765"/>
            <a:ext cx="992464" cy="992464"/>
            <a:chOff x="0" y="0"/>
            <a:chExt cx="992462" cy="992462"/>
          </a:xfrm>
        </p:grpSpPr>
        <p:sp>
          <p:nvSpPr>
            <p:cNvPr id="229" name="Freeform 6"/>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230" name="TextBox 7"/>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5</a:t>
              </a:r>
            </a:p>
          </p:txBody>
        </p:sp>
      </p:grpSp>
      <p:grpSp>
        <p:nvGrpSpPr>
          <p:cNvPr id="234" name="Group 8"/>
          <p:cNvGrpSpPr/>
          <p:nvPr/>
        </p:nvGrpSpPr>
        <p:grpSpPr>
          <a:xfrm>
            <a:off x="951508" y="3320505"/>
            <a:ext cx="508159" cy="543806"/>
            <a:chOff x="0" y="0"/>
            <a:chExt cx="508157" cy="543804"/>
          </a:xfrm>
        </p:grpSpPr>
        <p:sp>
          <p:nvSpPr>
            <p:cNvPr id="232" name="Freeform 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33" name="TextBox 1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237" name="Group 11"/>
          <p:cNvGrpSpPr/>
          <p:nvPr/>
        </p:nvGrpSpPr>
        <p:grpSpPr>
          <a:xfrm>
            <a:off x="951508" y="1987111"/>
            <a:ext cx="508159" cy="543806"/>
            <a:chOff x="0" y="0"/>
            <a:chExt cx="508157" cy="543804"/>
          </a:xfrm>
        </p:grpSpPr>
        <p:sp>
          <p:nvSpPr>
            <p:cNvPr id="235" name="Freeform 1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36" name="TextBox 1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240" name="Group 14"/>
          <p:cNvGrpSpPr/>
          <p:nvPr/>
        </p:nvGrpSpPr>
        <p:grpSpPr>
          <a:xfrm>
            <a:off x="951508" y="3988134"/>
            <a:ext cx="508159" cy="543806"/>
            <a:chOff x="0" y="0"/>
            <a:chExt cx="508157" cy="543804"/>
          </a:xfrm>
        </p:grpSpPr>
        <p:sp>
          <p:nvSpPr>
            <p:cNvPr id="238" name="Freeform 1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39" name="TextBox 1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243" name="Group 17"/>
          <p:cNvGrpSpPr/>
          <p:nvPr/>
        </p:nvGrpSpPr>
        <p:grpSpPr>
          <a:xfrm>
            <a:off x="951508" y="2652873"/>
            <a:ext cx="508159" cy="543806"/>
            <a:chOff x="0" y="0"/>
            <a:chExt cx="508157" cy="543804"/>
          </a:xfrm>
        </p:grpSpPr>
        <p:sp>
          <p:nvSpPr>
            <p:cNvPr id="241" name="Freeform 1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42" name="TextBox 1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246" name="Group 20"/>
          <p:cNvGrpSpPr/>
          <p:nvPr/>
        </p:nvGrpSpPr>
        <p:grpSpPr>
          <a:xfrm>
            <a:off x="951508" y="6430347"/>
            <a:ext cx="508159" cy="543806"/>
            <a:chOff x="0" y="0"/>
            <a:chExt cx="508157" cy="543804"/>
          </a:xfrm>
        </p:grpSpPr>
        <p:sp>
          <p:nvSpPr>
            <p:cNvPr id="244" name="Freeform 2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45" name="TextBox 2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249" name="Group 23"/>
          <p:cNvGrpSpPr/>
          <p:nvPr/>
        </p:nvGrpSpPr>
        <p:grpSpPr>
          <a:xfrm>
            <a:off x="951508" y="5764584"/>
            <a:ext cx="508159" cy="543806"/>
            <a:chOff x="0" y="0"/>
            <a:chExt cx="508157" cy="543804"/>
          </a:xfrm>
        </p:grpSpPr>
        <p:sp>
          <p:nvSpPr>
            <p:cNvPr id="247" name="Freeform 2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48" name="TextBox 2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252" name="Group 26"/>
          <p:cNvGrpSpPr/>
          <p:nvPr/>
        </p:nvGrpSpPr>
        <p:grpSpPr>
          <a:xfrm>
            <a:off x="951508" y="7088453"/>
            <a:ext cx="508159" cy="543806"/>
            <a:chOff x="0" y="0"/>
            <a:chExt cx="508157" cy="543804"/>
          </a:xfrm>
        </p:grpSpPr>
        <p:sp>
          <p:nvSpPr>
            <p:cNvPr id="250" name="Freeform 2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51" name="TextBox 2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255" name="Group 29"/>
          <p:cNvGrpSpPr/>
          <p:nvPr/>
        </p:nvGrpSpPr>
        <p:grpSpPr>
          <a:xfrm>
            <a:off x="951508" y="7756083"/>
            <a:ext cx="508159" cy="543806"/>
            <a:chOff x="0" y="0"/>
            <a:chExt cx="508157" cy="543804"/>
          </a:xfrm>
        </p:grpSpPr>
        <p:sp>
          <p:nvSpPr>
            <p:cNvPr id="253" name="Freeform 3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54" name="TextBox 3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256" name="Freeform 38"/>
          <p:cNvSpPr/>
          <p:nvPr/>
        </p:nvSpPr>
        <p:spPr>
          <a:xfrm>
            <a:off x="11762088" y="-9632634"/>
            <a:ext cx="10994425" cy="10994425"/>
          </a:xfrm>
          <a:prstGeom prst="ellipse">
            <a:avLst/>
          </a:prstGeom>
          <a:ln w="514350" cap="sq">
            <a:solidFill>
              <a:srgbClr val="FD6220">
                <a:alpha val="11765"/>
              </a:srgbClr>
            </a:solidFill>
            <a:miter/>
          </a:ln>
        </p:spPr>
        <p:txBody>
          <a:bodyPr lIns="45719" rIns="45719"/>
          <a:lstStyle/>
          <a:p>
            <a:pPr/>
          </a:p>
        </p:txBody>
      </p:sp>
      <p:sp>
        <p:nvSpPr>
          <p:cNvPr id="257" name="Freeform 10"/>
          <p:cNvSpPr/>
          <p:nvPr/>
        </p:nvSpPr>
        <p:spPr>
          <a:xfrm>
            <a:off x="16313419" y="910464"/>
            <a:ext cx="945881" cy="236471"/>
          </a:xfrm>
          <a:prstGeom prst="rect">
            <a:avLst/>
          </a:prstGeom>
          <a:blipFill>
            <a:blip r:embed="rId2"/>
            <a:stretch>
              <a:fillRect/>
            </a:stretch>
          </a:blipFill>
          <a:ln w="12700">
            <a:miter lim="400000"/>
          </a:ln>
        </p:spPr>
        <p:txBody>
          <a:bodyPr lIns="45719" rIns="45719"/>
          <a:lstStyle/>
          <a:p>
            <a:pPr/>
          </a:p>
        </p:txBody>
      </p:sp>
      <p:sp>
        <p:nvSpPr>
          <p:cNvPr id="258" name="TextBox 41"/>
          <p:cNvSpPr txBox="1"/>
          <p:nvPr/>
        </p:nvSpPr>
        <p:spPr>
          <a:xfrm>
            <a:off x="198119" y="342899"/>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PROPOSED SYSTEM ARCHITECTURE</a:t>
            </a:r>
          </a:p>
        </p:txBody>
      </p:sp>
      <p:sp>
        <p:nvSpPr>
          <p:cNvPr id="259" name="TextBox 42"/>
          <p:cNvSpPr txBox="1"/>
          <p:nvPr/>
        </p:nvSpPr>
        <p:spPr>
          <a:xfrm>
            <a:off x="2255519" y="1638300"/>
            <a:ext cx="14990886" cy="1297171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p:txBody>
      </p:sp>
      <p:pic>
        <p:nvPicPr>
          <p:cNvPr id="260" name="pasted-movie.png" descr="pasted-movie.png"/>
          <p:cNvPicPr>
            <a:picLocks noChangeAspect="1"/>
          </p:cNvPicPr>
          <p:nvPr/>
        </p:nvPicPr>
        <p:blipFill>
          <a:blip r:embed="rId3">
            <a:extLst/>
          </a:blip>
          <a:stretch>
            <a:fillRect/>
          </a:stretch>
        </p:blipFill>
        <p:spPr>
          <a:xfrm>
            <a:off x="2255519" y="1638300"/>
            <a:ext cx="14899445" cy="7609775"/>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264" name="Group 14"/>
          <p:cNvGrpSpPr/>
          <p:nvPr/>
        </p:nvGrpSpPr>
        <p:grpSpPr>
          <a:xfrm>
            <a:off x="735587" y="5318633"/>
            <a:ext cx="992464" cy="992464"/>
            <a:chOff x="0" y="0"/>
            <a:chExt cx="992462" cy="992462"/>
          </a:xfrm>
        </p:grpSpPr>
        <p:sp>
          <p:nvSpPr>
            <p:cNvPr id="262" name="Freeform 15"/>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263" name="TextBox 16"/>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6</a:t>
              </a:r>
            </a:p>
          </p:txBody>
        </p:sp>
      </p:grpSp>
      <p:grpSp>
        <p:nvGrpSpPr>
          <p:cNvPr id="267" name="Group 17"/>
          <p:cNvGrpSpPr/>
          <p:nvPr/>
        </p:nvGrpSpPr>
        <p:grpSpPr>
          <a:xfrm>
            <a:off x="977740" y="3315742"/>
            <a:ext cx="508159" cy="543806"/>
            <a:chOff x="0" y="0"/>
            <a:chExt cx="508157" cy="543804"/>
          </a:xfrm>
        </p:grpSpPr>
        <p:sp>
          <p:nvSpPr>
            <p:cNvPr id="265" name="Freeform 1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66" name="TextBox 1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270" name="Group 20"/>
          <p:cNvGrpSpPr/>
          <p:nvPr/>
        </p:nvGrpSpPr>
        <p:grpSpPr>
          <a:xfrm>
            <a:off x="977740" y="1982348"/>
            <a:ext cx="508159" cy="543806"/>
            <a:chOff x="0" y="0"/>
            <a:chExt cx="508157" cy="543804"/>
          </a:xfrm>
        </p:grpSpPr>
        <p:sp>
          <p:nvSpPr>
            <p:cNvPr id="268" name="Freeform 2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69" name="TextBox 2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273" name="Group 23"/>
          <p:cNvGrpSpPr/>
          <p:nvPr/>
        </p:nvGrpSpPr>
        <p:grpSpPr>
          <a:xfrm>
            <a:off x="977740" y="3983373"/>
            <a:ext cx="508159" cy="543806"/>
            <a:chOff x="0" y="0"/>
            <a:chExt cx="508157" cy="543804"/>
          </a:xfrm>
        </p:grpSpPr>
        <p:sp>
          <p:nvSpPr>
            <p:cNvPr id="271" name="Freeform 2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72" name="TextBox 2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276" name="Group 26"/>
          <p:cNvGrpSpPr/>
          <p:nvPr/>
        </p:nvGrpSpPr>
        <p:grpSpPr>
          <a:xfrm>
            <a:off x="977740" y="2648112"/>
            <a:ext cx="508159" cy="543806"/>
            <a:chOff x="0" y="0"/>
            <a:chExt cx="508157" cy="543804"/>
          </a:xfrm>
        </p:grpSpPr>
        <p:sp>
          <p:nvSpPr>
            <p:cNvPr id="274" name="Freeform 2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75" name="TextBox 2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279" name="Group 29"/>
          <p:cNvGrpSpPr/>
          <p:nvPr/>
        </p:nvGrpSpPr>
        <p:grpSpPr>
          <a:xfrm>
            <a:off x="977740" y="6425584"/>
            <a:ext cx="508159" cy="543806"/>
            <a:chOff x="0" y="0"/>
            <a:chExt cx="508157" cy="543804"/>
          </a:xfrm>
        </p:grpSpPr>
        <p:sp>
          <p:nvSpPr>
            <p:cNvPr id="277" name="Freeform 3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78" name="TextBox 3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282" name="Group 32"/>
          <p:cNvGrpSpPr/>
          <p:nvPr/>
        </p:nvGrpSpPr>
        <p:grpSpPr>
          <a:xfrm>
            <a:off x="977740" y="4651002"/>
            <a:ext cx="508159" cy="543806"/>
            <a:chOff x="0" y="0"/>
            <a:chExt cx="508157" cy="543804"/>
          </a:xfrm>
        </p:grpSpPr>
        <p:sp>
          <p:nvSpPr>
            <p:cNvPr id="280" name="Freeform 3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81" name="TextBox 3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285" name="Group 37"/>
          <p:cNvGrpSpPr/>
          <p:nvPr/>
        </p:nvGrpSpPr>
        <p:grpSpPr>
          <a:xfrm>
            <a:off x="977740" y="7093215"/>
            <a:ext cx="508159" cy="543806"/>
            <a:chOff x="0" y="0"/>
            <a:chExt cx="508157" cy="543804"/>
          </a:xfrm>
        </p:grpSpPr>
        <p:sp>
          <p:nvSpPr>
            <p:cNvPr id="283" name="Freeform 3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84" name="TextBox 3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288" name="Group 40"/>
          <p:cNvGrpSpPr/>
          <p:nvPr/>
        </p:nvGrpSpPr>
        <p:grpSpPr>
          <a:xfrm>
            <a:off x="977740" y="7760845"/>
            <a:ext cx="508159" cy="543806"/>
            <a:chOff x="0" y="0"/>
            <a:chExt cx="508157" cy="543804"/>
          </a:xfrm>
        </p:grpSpPr>
        <p:sp>
          <p:nvSpPr>
            <p:cNvPr id="286" name="Freeform 4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87" name="TextBox 4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289" name="Freeform 10"/>
          <p:cNvSpPr/>
          <p:nvPr/>
        </p:nvSpPr>
        <p:spPr>
          <a:xfrm>
            <a:off x="16313419" y="910464"/>
            <a:ext cx="945881" cy="236471"/>
          </a:xfrm>
          <a:prstGeom prst="rect">
            <a:avLst/>
          </a:prstGeom>
          <a:blipFill>
            <a:blip r:embed="rId2"/>
            <a:stretch>
              <a:fillRect/>
            </a:stretch>
          </a:blipFill>
          <a:ln w="12700">
            <a:miter lim="400000"/>
          </a:ln>
        </p:spPr>
        <p:txBody>
          <a:bodyPr lIns="45719" rIns="45719"/>
          <a:lstStyle/>
          <a:p>
            <a:pPr/>
          </a:p>
        </p:txBody>
      </p:sp>
      <p:sp>
        <p:nvSpPr>
          <p:cNvPr id="290" name="TextBox 46"/>
          <p:cNvSpPr txBox="1"/>
          <p:nvPr/>
        </p:nvSpPr>
        <p:spPr>
          <a:xfrm>
            <a:off x="236219" y="315937"/>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WORKFLOW</a:t>
            </a:r>
          </a:p>
        </p:txBody>
      </p:sp>
      <p:pic>
        <p:nvPicPr>
          <p:cNvPr id="291" name="pasted-movie.png" descr="pasted-movie.png"/>
          <p:cNvPicPr>
            <a:picLocks noChangeAspect="1"/>
          </p:cNvPicPr>
          <p:nvPr/>
        </p:nvPicPr>
        <p:blipFill>
          <a:blip r:embed="rId3">
            <a:extLst/>
          </a:blip>
          <a:stretch>
            <a:fillRect/>
          </a:stretch>
        </p:blipFill>
        <p:spPr>
          <a:xfrm>
            <a:off x="2641600" y="1438540"/>
            <a:ext cx="14209284" cy="7409920"/>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295" name="Group 19"/>
          <p:cNvGrpSpPr/>
          <p:nvPr/>
        </p:nvGrpSpPr>
        <p:grpSpPr>
          <a:xfrm>
            <a:off x="735587" y="5976927"/>
            <a:ext cx="992464" cy="992464"/>
            <a:chOff x="0" y="0"/>
            <a:chExt cx="992462" cy="992462"/>
          </a:xfrm>
        </p:grpSpPr>
        <p:sp>
          <p:nvSpPr>
            <p:cNvPr id="293" name="Freeform 20"/>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294" name="TextBox 21"/>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7</a:t>
              </a:r>
            </a:p>
          </p:txBody>
        </p:sp>
      </p:grpSp>
      <p:grpSp>
        <p:nvGrpSpPr>
          <p:cNvPr id="298" name="Group 22"/>
          <p:cNvGrpSpPr/>
          <p:nvPr/>
        </p:nvGrpSpPr>
        <p:grpSpPr>
          <a:xfrm>
            <a:off x="977740" y="3315742"/>
            <a:ext cx="508159" cy="543806"/>
            <a:chOff x="0" y="0"/>
            <a:chExt cx="508157" cy="543804"/>
          </a:xfrm>
        </p:grpSpPr>
        <p:sp>
          <p:nvSpPr>
            <p:cNvPr id="296"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97"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301" name="Group 25"/>
          <p:cNvGrpSpPr/>
          <p:nvPr/>
        </p:nvGrpSpPr>
        <p:grpSpPr>
          <a:xfrm>
            <a:off x="977740" y="1982348"/>
            <a:ext cx="508159" cy="543806"/>
            <a:chOff x="0" y="0"/>
            <a:chExt cx="508157" cy="543804"/>
          </a:xfrm>
        </p:grpSpPr>
        <p:sp>
          <p:nvSpPr>
            <p:cNvPr id="299"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00"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304" name="Group 28"/>
          <p:cNvGrpSpPr/>
          <p:nvPr/>
        </p:nvGrpSpPr>
        <p:grpSpPr>
          <a:xfrm>
            <a:off x="977740" y="3983373"/>
            <a:ext cx="508159" cy="543806"/>
            <a:chOff x="0" y="0"/>
            <a:chExt cx="508157" cy="543804"/>
          </a:xfrm>
        </p:grpSpPr>
        <p:sp>
          <p:nvSpPr>
            <p:cNvPr id="302"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03"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307" name="Group 31"/>
          <p:cNvGrpSpPr/>
          <p:nvPr/>
        </p:nvGrpSpPr>
        <p:grpSpPr>
          <a:xfrm>
            <a:off x="977740" y="2648112"/>
            <a:ext cx="508159" cy="543806"/>
            <a:chOff x="0" y="0"/>
            <a:chExt cx="508157" cy="543804"/>
          </a:xfrm>
        </p:grpSpPr>
        <p:sp>
          <p:nvSpPr>
            <p:cNvPr id="305"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06"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310" name="Group 34"/>
          <p:cNvGrpSpPr/>
          <p:nvPr/>
        </p:nvGrpSpPr>
        <p:grpSpPr>
          <a:xfrm>
            <a:off x="977740" y="5318633"/>
            <a:ext cx="508159" cy="543806"/>
            <a:chOff x="0" y="0"/>
            <a:chExt cx="508157" cy="543804"/>
          </a:xfrm>
        </p:grpSpPr>
        <p:sp>
          <p:nvSpPr>
            <p:cNvPr id="308" name="Freeform 3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09" name="TextBox 3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313" name="Group 37"/>
          <p:cNvGrpSpPr/>
          <p:nvPr/>
        </p:nvGrpSpPr>
        <p:grpSpPr>
          <a:xfrm>
            <a:off x="977740" y="4651002"/>
            <a:ext cx="508159" cy="543806"/>
            <a:chOff x="0" y="0"/>
            <a:chExt cx="508157" cy="543804"/>
          </a:xfrm>
        </p:grpSpPr>
        <p:sp>
          <p:nvSpPr>
            <p:cNvPr id="311" name="Freeform 3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12" name="TextBox 3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316" name="Group 40"/>
          <p:cNvGrpSpPr/>
          <p:nvPr/>
        </p:nvGrpSpPr>
        <p:grpSpPr>
          <a:xfrm>
            <a:off x="977740" y="7093215"/>
            <a:ext cx="508159" cy="543806"/>
            <a:chOff x="0" y="0"/>
            <a:chExt cx="508157" cy="543804"/>
          </a:xfrm>
        </p:grpSpPr>
        <p:sp>
          <p:nvSpPr>
            <p:cNvPr id="314" name="Freeform 4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15" name="TextBox 4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319" name="Group 43"/>
          <p:cNvGrpSpPr/>
          <p:nvPr/>
        </p:nvGrpSpPr>
        <p:grpSpPr>
          <a:xfrm>
            <a:off x="977740" y="7760845"/>
            <a:ext cx="508159" cy="543806"/>
            <a:chOff x="0" y="0"/>
            <a:chExt cx="508157" cy="543804"/>
          </a:xfrm>
        </p:grpSpPr>
        <p:sp>
          <p:nvSpPr>
            <p:cNvPr id="317" name="Freeform 4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18" name="TextBox 4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320" name="Freeform 10"/>
          <p:cNvSpPr/>
          <p:nvPr/>
        </p:nvSpPr>
        <p:spPr>
          <a:xfrm>
            <a:off x="16313419" y="910464"/>
            <a:ext cx="945881" cy="236471"/>
          </a:xfrm>
          <a:prstGeom prst="rect">
            <a:avLst/>
          </a:prstGeom>
          <a:blipFill>
            <a:blip r:embed="rId2"/>
            <a:stretch>
              <a:fillRect/>
            </a:stretch>
          </a:blipFill>
          <a:ln w="12700">
            <a:miter lim="400000"/>
          </a:ln>
        </p:spPr>
        <p:txBody>
          <a:bodyPr lIns="45719" rIns="45719"/>
          <a:lstStyle/>
          <a:p>
            <a:pPr/>
          </a:p>
        </p:txBody>
      </p:sp>
      <p:sp>
        <p:nvSpPr>
          <p:cNvPr id="321" name="TextBox 46"/>
          <p:cNvSpPr txBox="1"/>
          <p:nvPr/>
        </p:nvSpPr>
        <p:spPr>
          <a:xfrm>
            <a:off x="198119" y="342899"/>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TECHNOLOGIES USED</a:t>
            </a:r>
          </a:p>
        </p:txBody>
      </p:sp>
      <p:sp>
        <p:nvSpPr>
          <p:cNvPr id="322" name="TextBox 47"/>
          <p:cNvSpPr txBox="1"/>
          <p:nvPr/>
        </p:nvSpPr>
        <p:spPr>
          <a:xfrm>
            <a:off x="2128813" y="1398964"/>
            <a:ext cx="14990885" cy="117477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sz="3200">
                <a:latin typeface="Times New Roman"/>
                <a:ea typeface="Times New Roman"/>
                <a:cs typeface="Times New Roman"/>
                <a:sym typeface="Times New Roman"/>
              </a:defRPr>
            </a:pPr>
            <a:r>
              <a:rPr b="1"/>
              <a:t>Frontend:</a:t>
            </a:r>
            <a:br/>
            <a:r>
              <a:t>HTML, CSS, React JS</a:t>
            </a:r>
          </a:p>
          <a:p>
            <a:pPr defTabSz="457200">
              <a:spcBef>
                <a:spcPts val="1200"/>
              </a:spcBef>
              <a:defRPr sz="3200">
                <a:latin typeface="Times New Roman"/>
                <a:ea typeface="Times New Roman"/>
                <a:cs typeface="Times New Roman"/>
                <a:sym typeface="Times New Roman"/>
              </a:defRPr>
            </a:pPr>
            <a:r>
              <a:rPr b="1"/>
              <a:t>Backend:</a:t>
            </a:r>
            <a:br/>
            <a:r>
              <a:t>Node.js (for handling requests and connecting frontend with database)</a:t>
            </a:r>
          </a:p>
          <a:p>
            <a:pPr defTabSz="457200">
              <a:spcBef>
                <a:spcPts val="1200"/>
              </a:spcBef>
              <a:defRPr sz="3200">
                <a:latin typeface="Times New Roman"/>
                <a:ea typeface="Times New Roman"/>
                <a:cs typeface="Times New Roman"/>
                <a:sym typeface="Times New Roman"/>
              </a:defRPr>
            </a:pPr>
            <a:r>
              <a:rPr b="1"/>
              <a:t>Database:</a:t>
            </a:r>
            <a:br/>
            <a:r>
              <a:t>SQLite</a:t>
            </a:r>
          </a:p>
          <a:p>
            <a:pPr defTabSz="457200">
              <a:spcBef>
                <a:spcPts val="1200"/>
              </a:spcBef>
              <a:defRPr sz="3200">
                <a:latin typeface="Times New Roman"/>
                <a:ea typeface="Times New Roman"/>
                <a:cs typeface="Times New Roman"/>
                <a:sym typeface="Times New Roman"/>
              </a:defRPr>
            </a:pPr>
            <a:r>
              <a:rPr b="1"/>
              <a:t>Tools:</a:t>
            </a:r>
            <a:br/>
            <a:r>
              <a:t>Visual Studio Code, Node.js, npm</a:t>
            </a:r>
          </a:p>
          <a:p>
            <a:pPr defTabSz="457200">
              <a:spcBef>
                <a:spcPts val="1200"/>
              </a:spcBef>
              <a:defRPr sz="3200">
                <a:latin typeface="Times New Roman"/>
                <a:ea typeface="Times New Roman"/>
                <a:cs typeface="Times New Roman"/>
                <a:sym typeface="Times New Roman"/>
              </a:defRPr>
            </a:pPr>
          </a:p>
          <a:p>
            <a:pPr defTabSz="457200">
              <a:spcBef>
                <a:spcPts val="1200"/>
              </a:spcBef>
              <a:defRPr sz="3200">
                <a:latin typeface="Times New Roman"/>
                <a:ea typeface="Times New Roman"/>
                <a:cs typeface="Times New Roman"/>
                <a:sym typeface="Times New Roman"/>
              </a:defRPr>
            </a:pPr>
            <a:r>
              <a:rPr b="1"/>
              <a:t>Hardware/Software Requirements:</a:t>
            </a:r>
            <a:br/>
            <a:r>
              <a:t>A computer/laptop with minimum 4GB RAM, modern web browser (like Google Chrome), and internet connection for development and running the application.</a:t>
            </a:r>
          </a:p>
          <a:p>
            <a:pP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326" name="Group 7"/>
          <p:cNvGrpSpPr/>
          <p:nvPr/>
        </p:nvGrpSpPr>
        <p:grpSpPr>
          <a:xfrm>
            <a:off x="735587" y="6653893"/>
            <a:ext cx="992464" cy="992464"/>
            <a:chOff x="0" y="0"/>
            <a:chExt cx="992462" cy="992462"/>
          </a:xfrm>
        </p:grpSpPr>
        <p:sp>
          <p:nvSpPr>
            <p:cNvPr id="324"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325" name="TextBox 9"/>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8</a:t>
              </a:r>
            </a:p>
          </p:txBody>
        </p:sp>
      </p:grpSp>
      <p:grpSp>
        <p:nvGrpSpPr>
          <p:cNvPr id="329" name="Group 10"/>
          <p:cNvGrpSpPr/>
          <p:nvPr/>
        </p:nvGrpSpPr>
        <p:grpSpPr>
          <a:xfrm>
            <a:off x="977740" y="3315742"/>
            <a:ext cx="508159" cy="543806"/>
            <a:chOff x="0" y="0"/>
            <a:chExt cx="508157" cy="543804"/>
          </a:xfrm>
        </p:grpSpPr>
        <p:sp>
          <p:nvSpPr>
            <p:cNvPr id="327"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28"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332" name="Group 13"/>
          <p:cNvGrpSpPr/>
          <p:nvPr/>
        </p:nvGrpSpPr>
        <p:grpSpPr>
          <a:xfrm>
            <a:off x="977740" y="1982348"/>
            <a:ext cx="508159" cy="543806"/>
            <a:chOff x="0" y="0"/>
            <a:chExt cx="508157" cy="543804"/>
          </a:xfrm>
        </p:grpSpPr>
        <p:sp>
          <p:nvSpPr>
            <p:cNvPr id="330"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31"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335" name="Group 16"/>
          <p:cNvGrpSpPr/>
          <p:nvPr/>
        </p:nvGrpSpPr>
        <p:grpSpPr>
          <a:xfrm>
            <a:off x="977740" y="3983373"/>
            <a:ext cx="508159" cy="543806"/>
            <a:chOff x="0" y="0"/>
            <a:chExt cx="508157" cy="543804"/>
          </a:xfrm>
        </p:grpSpPr>
        <p:sp>
          <p:nvSpPr>
            <p:cNvPr id="333"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34"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338" name="Group 19"/>
          <p:cNvGrpSpPr/>
          <p:nvPr/>
        </p:nvGrpSpPr>
        <p:grpSpPr>
          <a:xfrm>
            <a:off x="977740" y="2648112"/>
            <a:ext cx="508159" cy="543806"/>
            <a:chOff x="0" y="0"/>
            <a:chExt cx="508157" cy="543804"/>
          </a:xfrm>
        </p:grpSpPr>
        <p:sp>
          <p:nvSpPr>
            <p:cNvPr id="336"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37"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341" name="Group 22"/>
          <p:cNvGrpSpPr/>
          <p:nvPr/>
        </p:nvGrpSpPr>
        <p:grpSpPr>
          <a:xfrm>
            <a:off x="977740" y="5318633"/>
            <a:ext cx="508159" cy="543806"/>
            <a:chOff x="0" y="0"/>
            <a:chExt cx="508157" cy="543804"/>
          </a:xfrm>
        </p:grpSpPr>
        <p:sp>
          <p:nvSpPr>
            <p:cNvPr id="339"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40"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344" name="Group 25"/>
          <p:cNvGrpSpPr/>
          <p:nvPr/>
        </p:nvGrpSpPr>
        <p:grpSpPr>
          <a:xfrm>
            <a:off x="977740" y="4651002"/>
            <a:ext cx="508159" cy="543806"/>
            <a:chOff x="0" y="0"/>
            <a:chExt cx="508157" cy="543804"/>
          </a:xfrm>
        </p:grpSpPr>
        <p:sp>
          <p:nvSpPr>
            <p:cNvPr id="342"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43"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347" name="Group 28"/>
          <p:cNvGrpSpPr/>
          <p:nvPr/>
        </p:nvGrpSpPr>
        <p:grpSpPr>
          <a:xfrm>
            <a:off x="977740" y="5986264"/>
            <a:ext cx="508159" cy="543806"/>
            <a:chOff x="0" y="0"/>
            <a:chExt cx="508157" cy="543804"/>
          </a:xfrm>
        </p:grpSpPr>
        <p:sp>
          <p:nvSpPr>
            <p:cNvPr id="345"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46"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350" name="Group 31"/>
          <p:cNvGrpSpPr/>
          <p:nvPr/>
        </p:nvGrpSpPr>
        <p:grpSpPr>
          <a:xfrm>
            <a:off x="977740" y="7760845"/>
            <a:ext cx="508159" cy="543806"/>
            <a:chOff x="0" y="0"/>
            <a:chExt cx="508157" cy="543804"/>
          </a:xfrm>
        </p:grpSpPr>
        <p:sp>
          <p:nvSpPr>
            <p:cNvPr id="348"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49"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351" name="Freeform 34"/>
          <p:cNvSpPr/>
          <p:nvPr/>
        </p:nvSpPr>
        <p:spPr>
          <a:xfrm>
            <a:off x="16313419" y="1028699"/>
            <a:ext cx="945881" cy="236471"/>
          </a:xfrm>
          <a:prstGeom prst="rect">
            <a:avLst/>
          </a:prstGeom>
          <a:blipFill>
            <a:blip r:embed="rId2"/>
            <a:stretch>
              <a:fillRect/>
            </a:stretch>
          </a:blipFill>
          <a:ln w="12700">
            <a:miter lim="400000"/>
          </a:ln>
        </p:spPr>
        <p:txBody>
          <a:bodyPr lIns="45719" rIns="45719"/>
          <a:lstStyle/>
          <a:p>
            <a:pPr/>
          </a:p>
        </p:txBody>
      </p:sp>
      <p:sp>
        <p:nvSpPr>
          <p:cNvPr id="352" name="Freeform 36"/>
          <p:cNvSpPr/>
          <p:nvPr/>
        </p:nvSpPr>
        <p:spPr>
          <a:xfrm>
            <a:off x="17170670" y="-178579"/>
            <a:ext cx="10994424" cy="10994424"/>
          </a:xfrm>
          <a:prstGeom prst="ellipse">
            <a:avLst/>
          </a:prstGeom>
          <a:ln w="514350" cap="sq">
            <a:solidFill>
              <a:srgbClr val="FD6220">
                <a:alpha val="11765"/>
              </a:srgbClr>
            </a:solidFill>
            <a:miter/>
          </a:ln>
        </p:spPr>
        <p:txBody>
          <a:bodyPr lIns="45719" rIns="45719"/>
          <a:lstStyle/>
          <a:p>
            <a:pPr/>
          </a:p>
        </p:txBody>
      </p:sp>
      <p:sp>
        <p:nvSpPr>
          <p:cNvPr id="353" name="TextBox 42"/>
          <p:cNvSpPr txBox="1"/>
          <p:nvPr/>
        </p:nvSpPr>
        <p:spPr>
          <a:xfrm>
            <a:off x="198119" y="342899"/>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MODULE DESCRIPTION</a:t>
            </a:r>
          </a:p>
        </p:txBody>
      </p:sp>
      <p:sp>
        <p:nvSpPr>
          <p:cNvPr id="354" name="TextBox 43"/>
          <p:cNvSpPr txBox="1"/>
          <p:nvPr/>
        </p:nvSpPr>
        <p:spPr>
          <a:xfrm>
            <a:off x="2311833" y="1599307"/>
            <a:ext cx="14990886" cy="102745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3000">
                <a:latin typeface="Times New Roman"/>
                <a:ea typeface="Times New Roman"/>
                <a:cs typeface="Times New Roman"/>
                <a:sym typeface="Times New Roman"/>
              </a:defRPr>
            </a:pPr>
          </a:p>
          <a:p>
            <a:pPr defTabSz="457200">
              <a:spcBef>
                <a:spcPts val="1200"/>
              </a:spcBef>
              <a:defRPr sz="3000">
                <a:latin typeface="Times New Roman"/>
                <a:ea typeface="Times New Roman"/>
                <a:cs typeface="Times New Roman"/>
                <a:sym typeface="Times New Roman"/>
              </a:defRPr>
            </a:pPr>
            <a:r>
              <a:rPr b="1"/>
              <a:t>Module 1: Event Details Module</a:t>
            </a:r>
            <a:br/>
            <a:r>
              <a:t>Handles displaying event information such as event name, department, date and time, venue, ticket price, and available tickets through the user interface. It allows users to easily view all necessary event details before booking.</a:t>
            </a:r>
          </a:p>
          <a:p>
            <a:pPr defTabSz="457200">
              <a:spcBef>
                <a:spcPts val="1200"/>
              </a:spcBef>
              <a:defRPr sz="3000">
                <a:latin typeface="Times New Roman"/>
                <a:ea typeface="Times New Roman"/>
                <a:cs typeface="Times New Roman"/>
                <a:sym typeface="Times New Roman"/>
              </a:defRPr>
            </a:pPr>
            <a:r>
              <a:rPr b="1"/>
              <a:t>Module 2: Ticket Booking Module</a:t>
            </a:r>
            <a:br/>
            <a:r>
              <a:t>Manages the ticket booking process by allowing users to enter their details like name, email, department, and number of tickets. It also validates inputs and prevents booking more tickets than available.</a:t>
            </a:r>
          </a:p>
          <a:p>
            <a:pPr defTabSz="457200">
              <a:spcBef>
                <a:spcPts val="1200"/>
              </a:spcBef>
              <a:defRPr sz="3000">
                <a:latin typeface="Times New Roman"/>
                <a:ea typeface="Times New Roman"/>
                <a:cs typeface="Times New Roman"/>
                <a:sym typeface="Times New Roman"/>
              </a:defRPr>
            </a:pPr>
            <a:r>
              <a:rPr b="1"/>
              <a:t>Module 3: Server &amp; API Handling</a:t>
            </a:r>
            <a:br/>
            <a:r>
              <a:t>Handles communication between the React frontend and backend, processes booking requests, and ensures proper data flow between the application and the database.</a:t>
            </a:r>
          </a:p>
          <a:p>
            <a:pPr defTabSz="457200">
              <a:spcBef>
                <a:spcPts val="1200"/>
              </a:spcBef>
              <a:defRPr sz="3000">
                <a:latin typeface="Times New Roman"/>
                <a:ea typeface="Times New Roman"/>
                <a:cs typeface="Times New Roman"/>
                <a:sym typeface="Times New Roman"/>
              </a:defRPr>
            </a:pPr>
            <a:r>
              <a:rPr b="1"/>
              <a:t>Module 4: Database Management</a:t>
            </a:r>
            <a:br/>
            <a:r>
              <a:t>Uses SQLite to store and retrieve booking details such as user information, number of tickets booked, and updates available ticket count to maintain data consistency.</a:t>
            </a:r>
            <a:endParaRPr b="1" sz="2800">
              <a:latin typeface="+mj-lt"/>
              <a:ea typeface="+mj-ea"/>
              <a:cs typeface="+mj-cs"/>
              <a:sym typeface="Calibri"/>
            </a:endParaRPr>
          </a:p>
          <a:p>
            <a:pPr defTabSz="457200">
              <a:spcBef>
                <a:spcPts val="1200"/>
              </a:spcBef>
              <a:defRPr sz="1200">
                <a:latin typeface="Times Roman"/>
                <a:ea typeface="Times Roman"/>
                <a:cs typeface="Times Roman"/>
                <a:sym typeface="Times Roman"/>
              </a:defRPr>
            </a:pPr>
            <a:endParaRPr sz="2800"/>
          </a:p>
          <a:p>
            <a:pPr>
              <a:defRPr sz="2800"/>
            </a:pPr>
          </a:p>
          <a:p>
            <a:pPr>
              <a:defRPr sz="2800"/>
            </a:pPr>
          </a:p>
          <a:p>
            <a:pPr>
              <a:defRPr sz="2800"/>
            </a:pPr>
          </a:p>
          <a:p>
            <a:pPr>
              <a:defRPr sz="2800"/>
            </a:pPr>
          </a:p>
          <a:p>
            <a:pPr>
              <a:defRPr sz="2800"/>
            </a:pP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358" name="Group 7"/>
          <p:cNvGrpSpPr/>
          <p:nvPr/>
        </p:nvGrpSpPr>
        <p:grpSpPr>
          <a:xfrm>
            <a:off x="735587" y="6653893"/>
            <a:ext cx="992464" cy="992464"/>
            <a:chOff x="0" y="0"/>
            <a:chExt cx="992462" cy="992462"/>
          </a:xfrm>
        </p:grpSpPr>
        <p:sp>
          <p:nvSpPr>
            <p:cNvPr id="356"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357" name="TextBox 9"/>
            <p:cNvSpPr txBox="1"/>
            <p:nvPr/>
          </p:nvSpPr>
          <p:spPr>
            <a:xfrm>
              <a:off x="93043" y="187530"/>
              <a:ext cx="806377" cy="5476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b="1" sz="2400">
                  <a:solidFill>
                    <a:srgbClr val="002060"/>
                  </a:solidFill>
                  <a:latin typeface="Gotham"/>
                  <a:ea typeface="Gotham"/>
                  <a:cs typeface="Gotham"/>
                  <a:sym typeface="Gotham"/>
                </a:defRPr>
              </a:lvl1pPr>
            </a:lstStyle>
            <a:p>
              <a:pPr/>
              <a:r>
                <a:t>8</a:t>
              </a:r>
            </a:p>
          </p:txBody>
        </p:sp>
      </p:grpSp>
      <p:grpSp>
        <p:nvGrpSpPr>
          <p:cNvPr id="361" name="Group 10"/>
          <p:cNvGrpSpPr/>
          <p:nvPr/>
        </p:nvGrpSpPr>
        <p:grpSpPr>
          <a:xfrm>
            <a:off x="977740" y="3315742"/>
            <a:ext cx="508159" cy="543806"/>
            <a:chOff x="0" y="0"/>
            <a:chExt cx="508157" cy="543804"/>
          </a:xfrm>
        </p:grpSpPr>
        <p:sp>
          <p:nvSpPr>
            <p:cNvPr id="359"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60"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364" name="Group 13"/>
          <p:cNvGrpSpPr/>
          <p:nvPr/>
        </p:nvGrpSpPr>
        <p:grpSpPr>
          <a:xfrm>
            <a:off x="977740" y="1982348"/>
            <a:ext cx="508159" cy="543806"/>
            <a:chOff x="0" y="0"/>
            <a:chExt cx="508157" cy="543804"/>
          </a:xfrm>
        </p:grpSpPr>
        <p:sp>
          <p:nvSpPr>
            <p:cNvPr id="362"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63"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367" name="Group 16"/>
          <p:cNvGrpSpPr/>
          <p:nvPr/>
        </p:nvGrpSpPr>
        <p:grpSpPr>
          <a:xfrm>
            <a:off x="977740" y="3983373"/>
            <a:ext cx="508159" cy="543806"/>
            <a:chOff x="0" y="0"/>
            <a:chExt cx="508157" cy="543804"/>
          </a:xfrm>
        </p:grpSpPr>
        <p:sp>
          <p:nvSpPr>
            <p:cNvPr id="365"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66"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370" name="Group 19"/>
          <p:cNvGrpSpPr/>
          <p:nvPr/>
        </p:nvGrpSpPr>
        <p:grpSpPr>
          <a:xfrm>
            <a:off x="977740" y="2648112"/>
            <a:ext cx="508159" cy="543806"/>
            <a:chOff x="0" y="0"/>
            <a:chExt cx="508157" cy="543804"/>
          </a:xfrm>
        </p:grpSpPr>
        <p:sp>
          <p:nvSpPr>
            <p:cNvPr id="368"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69"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373" name="Group 22"/>
          <p:cNvGrpSpPr/>
          <p:nvPr/>
        </p:nvGrpSpPr>
        <p:grpSpPr>
          <a:xfrm>
            <a:off x="977740" y="5318633"/>
            <a:ext cx="508159" cy="543806"/>
            <a:chOff x="0" y="0"/>
            <a:chExt cx="508157" cy="543804"/>
          </a:xfrm>
        </p:grpSpPr>
        <p:sp>
          <p:nvSpPr>
            <p:cNvPr id="371"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72"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376" name="Group 25"/>
          <p:cNvGrpSpPr/>
          <p:nvPr/>
        </p:nvGrpSpPr>
        <p:grpSpPr>
          <a:xfrm>
            <a:off x="977740" y="4651002"/>
            <a:ext cx="508159" cy="543806"/>
            <a:chOff x="0" y="0"/>
            <a:chExt cx="508157" cy="543804"/>
          </a:xfrm>
        </p:grpSpPr>
        <p:sp>
          <p:nvSpPr>
            <p:cNvPr id="374"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75"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379" name="Group 28"/>
          <p:cNvGrpSpPr/>
          <p:nvPr/>
        </p:nvGrpSpPr>
        <p:grpSpPr>
          <a:xfrm>
            <a:off x="977740" y="5986264"/>
            <a:ext cx="508159" cy="543806"/>
            <a:chOff x="0" y="0"/>
            <a:chExt cx="508157" cy="543804"/>
          </a:xfrm>
        </p:grpSpPr>
        <p:sp>
          <p:nvSpPr>
            <p:cNvPr id="377"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78"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382" name="Group 31"/>
          <p:cNvGrpSpPr/>
          <p:nvPr/>
        </p:nvGrpSpPr>
        <p:grpSpPr>
          <a:xfrm>
            <a:off x="977740" y="7760845"/>
            <a:ext cx="508159" cy="543806"/>
            <a:chOff x="0" y="0"/>
            <a:chExt cx="508157" cy="543804"/>
          </a:xfrm>
        </p:grpSpPr>
        <p:sp>
          <p:nvSpPr>
            <p:cNvPr id="380"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81"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383" name="Freeform 34"/>
          <p:cNvSpPr/>
          <p:nvPr/>
        </p:nvSpPr>
        <p:spPr>
          <a:xfrm>
            <a:off x="16313419" y="1028699"/>
            <a:ext cx="945881" cy="236471"/>
          </a:xfrm>
          <a:prstGeom prst="rect">
            <a:avLst/>
          </a:prstGeom>
          <a:blipFill>
            <a:blip r:embed="rId2"/>
            <a:stretch>
              <a:fillRect/>
            </a:stretch>
          </a:blipFill>
          <a:ln w="12700">
            <a:miter lim="400000"/>
          </a:ln>
        </p:spPr>
        <p:txBody>
          <a:bodyPr lIns="45719" rIns="45719"/>
          <a:lstStyle/>
          <a:p>
            <a:pPr/>
          </a:p>
        </p:txBody>
      </p:sp>
      <p:sp>
        <p:nvSpPr>
          <p:cNvPr id="384" name="Freeform 36"/>
          <p:cNvSpPr/>
          <p:nvPr/>
        </p:nvSpPr>
        <p:spPr>
          <a:xfrm>
            <a:off x="17170670" y="-178579"/>
            <a:ext cx="10994424" cy="10994424"/>
          </a:xfrm>
          <a:prstGeom prst="ellipse">
            <a:avLst/>
          </a:prstGeom>
          <a:ln w="514350" cap="sq">
            <a:solidFill>
              <a:srgbClr val="FD6220">
                <a:alpha val="11765"/>
              </a:srgbClr>
            </a:solidFill>
            <a:miter/>
          </a:ln>
        </p:spPr>
        <p:txBody>
          <a:bodyPr lIns="45719" rIns="45719"/>
          <a:lstStyle/>
          <a:p>
            <a:pPr/>
          </a:p>
        </p:txBody>
      </p:sp>
      <p:sp>
        <p:nvSpPr>
          <p:cNvPr id="385" name="TextBox 42"/>
          <p:cNvSpPr txBox="1"/>
          <p:nvPr/>
        </p:nvSpPr>
        <p:spPr>
          <a:xfrm>
            <a:off x="198119" y="342899"/>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IMPLEMENTATION SCREENSHOTS</a:t>
            </a:r>
          </a:p>
        </p:txBody>
      </p:sp>
      <p:pic>
        <p:nvPicPr>
          <p:cNvPr id="386" name="Screenshot 2026-04-17 at 1.02.23 AM.png" descr="Screenshot 2026-04-17 at 1.02.23 AM.png"/>
          <p:cNvPicPr>
            <a:picLocks noChangeAspect="1"/>
          </p:cNvPicPr>
          <p:nvPr/>
        </p:nvPicPr>
        <p:blipFill>
          <a:blip r:embed="rId3">
            <a:extLst/>
          </a:blip>
          <a:stretch>
            <a:fillRect/>
          </a:stretch>
        </p:blipFill>
        <p:spPr>
          <a:xfrm>
            <a:off x="5162660" y="1190554"/>
            <a:ext cx="7128934" cy="8799964"/>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390" name="Group 7"/>
          <p:cNvGrpSpPr/>
          <p:nvPr/>
        </p:nvGrpSpPr>
        <p:grpSpPr>
          <a:xfrm>
            <a:off x="735587" y="6653893"/>
            <a:ext cx="992464" cy="992464"/>
            <a:chOff x="0" y="0"/>
            <a:chExt cx="992462" cy="992462"/>
          </a:xfrm>
        </p:grpSpPr>
        <p:sp>
          <p:nvSpPr>
            <p:cNvPr id="388"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389" name="TextBox 9"/>
            <p:cNvSpPr txBox="1"/>
            <p:nvPr/>
          </p:nvSpPr>
          <p:spPr>
            <a:xfrm>
              <a:off x="93043" y="187530"/>
              <a:ext cx="806377" cy="5476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b="1" sz="2400">
                  <a:solidFill>
                    <a:srgbClr val="002060"/>
                  </a:solidFill>
                  <a:latin typeface="Gotham"/>
                  <a:ea typeface="Gotham"/>
                  <a:cs typeface="Gotham"/>
                  <a:sym typeface="Gotham"/>
                </a:defRPr>
              </a:lvl1pPr>
            </a:lstStyle>
            <a:p>
              <a:pPr/>
              <a:r>
                <a:t>8(A)</a:t>
              </a:r>
            </a:p>
          </p:txBody>
        </p:sp>
      </p:grpSp>
      <p:grpSp>
        <p:nvGrpSpPr>
          <p:cNvPr id="393" name="Group 10"/>
          <p:cNvGrpSpPr/>
          <p:nvPr/>
        </p:nvGrpSpPr>
        <p:grpSpPr>
          <a:xfrm>
            <a:off x="977740" y="3315742"/>
            <a:ext cx="508159" cy="543806"/>
            <a:chOff x="0" y="0"/>
            <a:chExt cx="508157" cy="543804"/>
          </a:xfrm>
        </p:grpSpPr>
        <p:sp>
          <p:nvSpPr>
            <p:cNvPr id="391"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92"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396" name="Group 13"/>
          <p:cNvGrpSpPr/>
          <p:nvPr/>
        </p:nvGrpSpPr>
        <p:grpSpPr>
          <a:xfrm>
            <a:off x="977740" y="1982348"/>
            <a:ext cx="508159" cy="543806"/>
            <a:chOff x="0" y="0"/>
            <a:chExt cx="508157" cy="543804"/>
          </a:xfrm>
        </p:grpSpPr>
        <p:sp>
          <p:nvSpPr>
            <p:cNvPr id="394"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95"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399" name="Group 16"/>
          <p:cNvGrpSpPr/>
          <p:nvPr/>
        </p:nvGrpSpPr>
        <p:grpSpPr>
          <a:xfrm>
            <a:off x="977740" y="3983373"/>
            <a:ext cx="508159" cy="543806"/>
            <a:chOff x="0" y="0"/>
            <a:chExt cx="508157" cy="543804"/>
          </a:xfrm>
        </p:grpSpPr>
        <p:sp>
          <p:nvSpPr>
            <p:cNvPr id="397"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98"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402" name="Group 19"/>
          <p:cNvGrpSpPr/>
          <p:nvPr/>
        </p:nvGrpSpPr>
        <p:grpSpPr>
          <a:xfrm>
            <a:off x="977740" y="2648112"/>
            <a:ext cx="508159" cy="543806"/>
            <a:chOff x="0" y="0"/>
            <a:chExt cx="508157" cy="543804"/>
          </a:xfrm>
        </p:grpSpPr>
        <p:sp>
          <p:nvSpPr>
            <p:cNvPr id="400"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01"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405" name="Group 22"/>
          <p:cNvGrpSpPr/>
          <p:nvPr/>
        </p:nvGrpSpPr>
        <p:grpSpPr>
          <a:xfrm>
            <a:off x="977740" y="5318633"/>
            <a:ext cx="508159" cy="543806"/>
            <a:chOff x="0" y="0"/>
            <a:chExt cx="508157" cy="543804"/>
          </a:xfrm>
        </p:grpSpPr>
        <p:sp>
          <p:nvSpPr>
            <p:cNvPr id="403"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04"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408" name="Group 25"/>
          <p:cNvGrpSpPr/>
          <p:nvPr/>
        </p:nvGrpSpPr>
        <p:grpSpPr>
          <a:xfrm>
            <a:off x="977740" y="4651002"/>
            <a:ext cx="508159" cy="543806"/>
            <a:chOff x="0" y="0"/>
            <a:chExt cx="508157" cy="543804"/>
          </a:xfrm>
        </p:grpSpPr>
        <p:sp>
          <p:nvSpPr>
            <p:cNvPr id="406"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07"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411" name="Group 28"/>
          <p:cNvGrpSpPr/>
          <p:nvPr/>
        </p:nvGrpSpPr>
        <p:grpSpPr>
          <a:xfrm>
            <a:off x="977740" y="5986264"/>
            <a:ext cx="508159" cy="543806"/>
            <a:chOff x="0" y="0"/>
            <a:chExt cx="508157" cy="543804"/>
          </a:xfrm>
        </p:grpSpPr>
        <p:sp>
          <p:nvSpPr>
            <p:cNvPr id="409"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10"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414" name="Group 31"/>
          <p:cNvGrpSpPr/>
          <p:nvPr/>
        </p:nvGrpSpPr>
        <p:grpSpPr>
          <a:xfrm>
            <a:off x="977740" y="7760845"/>
            <a:ext cx="508159" cy="543806"/>
            <a:chOff x="0" y="0"/>
            <a:chExt cx="508157" cy="543804"/>
          </a:xfrm>
        </p:grpSpPr>
        <p:sp>
          <p:nvSpPr>
            <p:cNvPr id="412"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13"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415" name="Freeform 34"/>
          <p:cNvSpPr/>
          <p:nvPr/>
        </p:nvSpPr>
        <p:spPr>
          <a:xfrm>
            <a:off x="16313419" y="1028699"/>
            <a:ext cx="945881" cy="236471"/>
          </a:xfrm>
          <a:prstGeom prst="rect">
            <a:avLst/>
          </a:prstGeom>
          <a:blipFill>
            <a:blip r:embed="rId2"/>
            <a:stretch>
              <a:fillRect/>
            </a:stretch>
          </a:blipFill>
          <a:ln w="12700">
            <a:miter lim="400000"/>
          </a:ln>
        </p:spPr>
        <p:txBody>
          <a:bodyPr lIns="45719" rIns="45719"/>
          <a:lstStyle/>
          <a:p>
            <a:pPr/>
          </a:p>
        </p:txBody>
      </p:sp>
      <p:sp>
        <p:nvSpPr>
          <p:cNvPr id="416" name="Freeform 36"/>
          <p:cNvSpPr/>
          <p:nvPr/>
        </p:nvSpPr>
        <p:spPr>
          <a:xfrm>
            <a:off x="17170670" y="-178579"/>
            <a:ext cx="10994424" cy="10994424"/>
          </a:xfrm>
          <a:prstGeom prst="ellipse">
            <a:avLst/>
          </a:prstGeom>
          <a:ln w="514350" cap="sq">
            <a:solidFill>
              <a:srgbClr val="FD6220">
                <a:alpha val="11765"/>
              </a:srgbClr>
            </a:solidFill>
            <a:miter/>
          </a:ln>
        </p:spPr>
        <p:txBody>
          <a:bodyPr lIns="45719" rIns="45719"/>
          <a:lstStyle/>
          <a:p>
            <a:pPr/>
          </a:p>
        </p:txBody>
      </p:sp>
      <p:sp>
        <p:nvSpPr>
          <p:cNvPr id="417" name="TextBox 42"/>
          <p:cNvSpPr txBox="1"/>
          <p:nvPr/>
        </p:nvSpPr>
        <p:spPr>
          <a:xfrm>
            <a:off x="198119" y="342899"/>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IMPLEMENTATION SCREENSHOTS</a:t>
            </a:r>
          </a:p>
        </p:txBody>
      </p:sp>
      <p:pic>
        <p:nvPicPr>
          <p:cNvPr id="418" name="Screenshot 2026-04-17 at 12.19.52 AM.png" descr="Screenshot 2026-04-17 at 12.19.52 AM.png"/>
          <p:cNvPicPr>
            <a:picLocks noChangeAspect="1"/>
          </p:cNvPicPr>
          <p:nvPr/>
        </p:nvPicPr>
        <p:blipFill>
          <a:blip r:embed="rId3">
            <a:extLst/>
          </a:blip>
          <a:stretch>
            <a:fillRect/>
          </a:stretch>
        </p:blipFill>
        <p:spPr>
          <a:xfrm>
            <a:off x="5742290" y="1120348"/>
            <a:ext cx="7400217" cy="8627955"/>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422" name="Group 7"/>
          <p:cNvGrpSpPr/>
          <p:nvPr/>
        </p:nvGrpSpPr>
        <p:grpSpPr>
          <a:xfrm>
            <a:off x="735587" y="6653893"/>
            <a:ext cx="992464" cy="992464"/>
            <a:chOff x="0" y="0"/>
            <a:chExt cx="992462" cy="992462"/>
          </a:xfrm>
        </p:grpSpPr>
        <p:sp>
          <p:nvSpPr>
            <p:cNvPr id="420"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421" name="TextBox 9"/>
            <p:cNvSpPr txBox="1"/>
            <p:nvPr/>
          </p:nvSpPr>
          <p:spPr>
            <a:xfrm>
              <a:off x="93043" y="187530"/>
              <a:ext cx="806377" cy="5476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b="1" sz="2400">
                  <a:solidFill>
                    <a:srgbClr val="002060"/>
                  </a:solidFill>
                  <a:latin typeface="Gotham"/>
                  <a:ea typeface="Gotham"/>
                  <a:cs typeface="Gotham"/>
                  <a:sym typeface="Gotham"/>
                </a:defRPr>
              </a:lvl1pPr>
            </a:lstStyle>
            <a:p>
              <a:pPr/>
              <a:r>
                <a:t>8(C)</a:t>
              </a:r>
            </a:p>
          </p:txBody>
        </p:sp>
      </p:grpSp>
      <p:grpSp>
        <p:nvGrpSpPr>
          <p:cNvPr id="425" name="Group 10"/>
          <p:cNvGrpSpPr/>
          <p:nvPr/>
        </p:nvGrpSpPr>
        <p:grpSpPr>
          <a:xfrm>
            <a:off x="977740" y="3315742"/>
            <a:ext cx="508159" cy="543806"/>
            <a:chOff x="0" y="0"/>
            <a:chExt cx="508157" cy="543804"/>
          </a:xfrm>
        </p:grpSpPr>
        <p:sp>
          <p:nvSpPr>
            <p:cNvPr id="423"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24"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428" name="Group 13"/>
          <p:cNvGrpSpPr/>
          <p:nvPr/>
        </p:nvGrpSpPr>
        <p:grpSpPr>
          <a:xfrm>
            <a:off x="977740" y="1982348"/>
            <a:ext cx="508159" cy="543806"/>
            <a:chOff x="0" y="0"/>
            <a:chExt cx="508157" cy="543804"/>
          </a:xfrm>
        </p:grpSpPr>
        <p:sp>
          <p:nvSpPr>
            <p:cNvPr id="426"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27"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431" name="Group 16"/>
          <p:cNvGrpSpPr/>
          <p:nvPr/>
        </p:nvGrpSpPr>
        <p:grpSpPr>
          <a:xfrm>
            <a:off x="977740" y="3983373"/>
            <a:ext cx="508159" cy="543806"/>
            <a:chOff x="0" y="0"/>
            <a:chExt cx="508157" cy="543804"/>
          </a:xfrm>
        </p:grpSpPr>
        <p:sp>
          <p:nvSpPr>
            <p:cNvPr id="429"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30"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434" name="Group 19"/>
          <p:cNvGrpSpPr/>
          <p:nvPr/>
        </p:nvGrpSpPr>
        <p:grpSpPr>
          <a:xfrm>
            <a:off x="977740" y="2648112"/>
            <a:ext cx="508159" cy="543806"/>
            <a:chOff x="0" y="0"/>
            <a:chExt cx="508157" cy="543804"/>
          </a:xfrm>
        </p:grpSpPr>
        <p:sp>
          <p:nvSpPr>
            <p:cNvPr id="432"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33"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437" name="Group 22"/>
          <p:cNvGrpSpPr/>
          <p:nvPr/>
        </p:nvGrpSpPr>
        <p:grpSpPr>
          <a:xfrm>
            <a:off x="977740" y="5318633"/>
            <a:ext cx="508159" cy="543806"/>
            <a:chOff x="0" y="0"/>
            <a:chExt cx="508157" cy="543804"/>
          </a:xfrm>
        </p:grpSpPr>
        <p:sp>
          <p:nvSpPr>
            <p:cNvPr id="435"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36"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440" name="Group 25"/>
          <p:cNvGrpSpPr/>
          <p:nvPr/>
        </p:nvGrpSpPr>
        <p:grpSpPr>
          <a:xfrm>
            <a:off x="977740" y="4651002"/>
            <a:ext cx="508159" cy="543806"/>
            <a:chOff x="0" y="0"/>
            <a:chExt cx="508157" cy="543804"/>
          </a:xfrm>
        </p:grpSpPr>
        <p:sp>
          <p:nvSpPr>
            <p:cNvPr id="438"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39"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443" name="Group 28"/>
          <p:cNvGrpSpPr/>
          <p:nvPr/>
        </p:nvGrpSpPr>
        <p:grpSpPr>
          <a:xfrm>
            <a:off x="977740" y="5986264"/>
            <a:ext cx="508159" cy="543806"/>
            <a:chOff x="0" y="0"/>
            <a:chExt cx="508157" cy="543804"/>
          </a:xfrm>
        </p:grpSpPr>
        <p:sp>
          <p:nvSpPr>
            <p:cNvPr id="441"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42"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446" name="Group 31"/>
          <p:cNvGrpSpPr/>
          <p:nvPr/>
        </p:nvGrpSpPr>
        <p:grpSpPr>
          <a:xfrm>
            <a:off x="977740" y="7760845"/>
            <a:ext cx="508159" cy="543806"/>
            <a:chOff x="0" y="0"/>
            <a:chExt cx="508157" cy="543804"/>
          </a:xfrm>
        </p:grpSpPr>
        <p:sp>
          <p:nvSpPr>
            <p:cNvPr id="444"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45"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447" name="Freeform 34"/>
          <p:cNvSpPr/>
          <p:nvPr/>
        </p:nvSpPr>
        <p:spPr>
          <a:xfrm>
            <a:off x="16313419" y="1028699"/>
            <a:ext cx="945881" cy="236471"/>
          </a:xfrm>
          <a:prstGeom prst="rect">
            <a:avLst/>
          </a:prstGeom>
          <a:blipFill>
            <a:blip r:embed="rId2"/>
            <a:stretch>
              <a:fillRect/>
            </a:stretch>
          </a:blipFill>
          <a:ln w="12700">
            <a:miter lim="400000"/>
          </a:ln>
        </p:spPr>
        <p:txBody>
          <a:bodyPr lIns="45719" rIns="45719"/>
          <a:lstStyle/>
          <a:p>
            <a:pPr/>
          </a:p>
        </p:txBody>
      </p:sp>
      <p:sp>
        <p:nvSpPr>
          <p:cNvPr id="448" name="Freeform 36"/>
          <p:cNvSpPr/>
          <p:nvPr/>
        </p:nvSpPr>
        <p:spPr>
          <a:xfrm>
            <a:off x="17170670" y="-178579"/>
            <a:ext cx="10994424" cy="10994424"/>
          </a:xfrm>
          <a:prstGeom prst="ellipse">
            <a:avLst/>
          </a:prstGeom>
          <a:ln w="514350" cap="sq">
            <a:solidFill>
              <a:srgbClr val="FD6220">
                <a:alpha val="11765"/>
              </a:srgbClr>
            </a:solidFill>
            <a:miter/>
          </a:ln>
        </p:spPr>
        <p:txBody>
          <a:bodyPr lIns="45719" rIns="45719"/>
          <a:lstStyle/>
          <a:p>
            <a:pPr/>
          </a:p>
        </p:txBody>
      </p:sp>
      <p:sp>
        <p:nvSpPr>
          <p:cNvPr id="449" name="TextBox 42"/>
          <p:cNvSpPr txBox="1"/>
          <p:nvPr/>
        </p:nvSpPr>
        <p:spPr>
          <a:xfrm>
            <a:off x="198119" y="342899"/>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IMPLEMENTATION SCREENSHOTS</a:t>
            </a:r>
          </a:p>
        </p:txBody>
      </p:sp>
      <p:pic>
        <p:nvPicPr>
          <p:cNvPr id="450" name="Image" descr="Image"/>
          <p:cNvPicPr>
            <a:picLocks noChangeAspect="1"/>
          </p:cNvPicPr>
          <p:nvPr/>
        </p:nvPicPr>
        <p:blipFill>
          <a:blip r:embed="rId3">
            <a:extLst/>
          </a:blip>
          <a:stretch>
            <a:fillRect/>
          </a:stretch>
        </p:blipFill>
        <p:spPr>
          <a:xfrm>
            <a:off x="2299816" y="1279935"/>
            <a:ext cx="13688368" cy="8323683"/>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454" name="Group 5"/>
          <p:cNvGrpSpPr/>
          <p:nvPr/>
        </p:nvGrpSpPr>
        <p:grpSpPr>
          <a:xfrm>
            <a:off x="735587" y="7321525"/>
            <a:ext cx="992464" cy="992464"/>
            <a:chOff x="0" y="0"/>
            <a:chExt cx="992462" cy="992462"/>
          </a:xfrm>
        </p:grpSpPr>
        <p:sp>
          <p:nvSpPr>
            <p:cNvPr id="452" name="Freeform 6"/>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453" name="TextBox 7"/>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9</a:t>
              </a:r>
            </a:p>
          </p:txBody>
        </p:sp>
      </p:grpSp>
      <p:grpSp>
        <p:nvGrpSpPr>
          <p:cNvPr id="457" name="Group 8"/>
          <p:cNvGrpSpPr/>
          <p:nvPr/>
        </p:nvGrpSpPr>
        <p:grpSpPr>
          <a:xfrm>
            <a:off x="977740" y="3315742"/>
            <a:ext cx="508159" cy="543806"/>
            <a:chOff x="0" y="0"/>
            <a:chExt cx="508157" cy="543804"/>
          </a:xfrm>
        </p:grpSpPr>
        <p:sp>
          <p:nvSpPr>
            <p:cNvPr id="455" name="Freeform 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56" name="TextBox 1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460" name="Group 11"/>
          <p:cNvGrpSpPr/>
          <p:nvPr/>
        </p:nvGrpSpPr>
        <p:grpSpPr>
          <a:xfrm>
            <a:off x="977740" y="1982348"/>
            <a:ext cx="508159" cy="543806"/>
            <a:chOff x="0" y="0"/>
            <a:chExt cx="508157" cy="543804"/>
          </a:xfrm>
        </p:grpSpPr>
        <p:sp>
          <p:nvSpPr>
            <p:cNvPr id="458" name="Freeform 1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59" name="TextBox 1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463" name="Group 14"/>
          <p:cNvGrpSpPr/>
          <p:nvPr/>
        </p:nvGrpSpPr>
        <p:grpSpPr>
          <a:xfrm>
            <a:off x="977740" y="3983373"/>
            <a:ext cx="508159" cy="543806"/>
            <a:chOff x="0" y="0"/>
            <a:chExt cx="508157" cy="543804"/>
          </a:xfrm>
        </p:grpSpPr>
        <p:sp>
          <p:nvSpPr>
            <p:cNvPr id="461" name="Freeform 1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62" name="TextBox 1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466" name="Group 17"/>
          <p:cNvGrpSpPr/>
          <p:nvPr/>
        </p:nvGrpSpPr>
        <p:grpSpPr>
          <a:xfrm>
            <a:off x="977740" y="2648112"/>
            <a:ext cx="508159" cy="543806"/>
            <a:chOff x="0" y="0"/>
            <a:chExt cx="508157" cy="543804"/>
          </a:xfrm>
        </p:grpSpPr>
        <p:sp>
          <p:nvSpPr>
            <p:cNvPr id="464" name="Freeform 1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65" name="TextBox 1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469" name="Group 20"/>
          <p:cNvGrpSpPr/>
          <p:nvPr/>
        </p:nvGrpSpPr>
        <p:grpSpPr>
          <a:xfrm>
            <a:off x="977740" y="5318633"/>
            <a:ext cx="508159" cy="543806"/>
            <a:chOff x="0" y="0"/>
            <a:chExt cx="508157" cy="543804"/>
          </a:xfrm>
        </p:grpSpPr>
        <p:sp>
          <p:nvSpPr>
            <p:cNvPr id="467" name="Freeform 2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68" name="TextBox 2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472" name="Group 23"/>
          <p:cNvGrpSpPr/>
          <p:nvPr/>
        </p:nvGrpSpPr>
        <p:grpSpPr>
          <a:xfrm>
            <a:off x="977740" y="4651002"/>
            <a:ext cx="508159" cy="543806"/>
            <a:chOff x="0" y="0"/>
            <a:chExt cx="508157" cy="543804"/>
          </a:xfrm>
        </p:grpSpPr>
        <p:sp>
          <p:nvSpPr>
            <p:cNvPr id="470" name="Freeform 2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71" name="TextBox 2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475" name="Group 26"/>
          <p:cNvGrpSpPr/>
          <p:nvPr/>
        </p:nvGrpSpPr>
        <p:grpSpPr>
          <a:xfrm>
            <a:off x="977740" y="5986264"/>
            <a:ext cx="508159" cy="543806"/>
            <a:chOff x="0" y="0"/>
            <a:chExt cx="508157" cy="543804"/>
          </a:xfrm>
        </p:grpSpPr>
        <p:sp>
          <p:nvSpPr>
            <p:cNvPr id="473" name="Freeform 2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74" name="TextBox 2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478" name="Group 29"/>
          <p:cNvGrpSpPr/>
          <p:nvPr/>
        </p:nvGrpSpPr>
        <p:grpSpPr>
          <a:xfrm>
            <a:off x="977740" y="6653893"/>
            <a:ext cx="508159" cy="543806"/>
            <a:chOff x="0" y="0"/>
            <a:chExt cx="508157" cy="543804"/>
          </a:xfrm>
        </p:grpSpPr>
        <p:sp>
          <p:nvSpPr>
            <p:cNvPr id="476" name="Freeform 3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77" name="TextBox 3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sp>
        <p:nvSpPr>
          <p:cNvPr id="479" name="Freeform 32"/>
          <p:cNvSpPr/>
          <p:nvPr/>
        </p:nvSpPr>
        <p:spPr>
          <a:xfrm>
            <a:off x="16313419" y="1028699"/>
            <a:ext cx="945881" cy="236471"/>
          </a:xfrm>
          <a:prstGeom prst="rect">
            <a:avLst/>
          </a:prstGeom>
          <a:blipFill>
            <a:blip r:embed="rId2"/>
            <a:stretch>
              <a:fillRect/>
            </a:stretch>
          </a:blipFill>
          <a:ln w="12700">
            <a:miter lim="400000"/>
          </a:ln>
        </p:spPr>
        <p:txBody>
          <a:bodyPr lIns="45719" rIns="45719"/>
          <a:lstStyle/>
          <a:p>
            <a:pPr/>
          </a:p>
        </p:txBody>
      </p:sp>
      <p:sp>
        <p:nvSpPr>
          <p:cNvPr id="480" name="Freeform 45"/>
          <p:cNvSpPr/>
          <p:nvPr/>
        </p:nvSpPr>
        <p:spPr>
          <a:xfrm>
            <a:off x="16786360" y="-353712"/>
            <a:ext cx="10994424" cy="10994424"/>
          </a:xfrm>
          <a:prstGeom prst="ellipse">
            <a:avLst/>
          </a:prstGeom>
          <a:ln w="619125" cap="sq">
            <a:solidFill>
              <a:srgbClr val="FD6220">
                <a:alpha val="11765"/>
              </a:srgbClr>
            </a:solidFill>
            <a:miter/>
          </a:ln>
        </p:spPr>
        <p:txBody>
          <a:bodyPr lIns="45719" rIns="45719"/>
          <a:lstStyle/>
          <a:p>
            <a:pPr/>
          </a:p>
        </p:txBody>
      </p:sp>
      <p:sp>
        <p:nvSpPr>
          <p:cNvPr id="481" name="TextBox 1"/>
          <p:cNvSpPr txBox="1"/>
          <p:nvPr/>
        </p:nvSpPr>
        <p:spPr>
          <a:xfrm>
            <a:off x="236219" y="290492"/>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ADVANTAGES &amp; LIMITATIONS</a:t>
            </a:r>
          </a:p>
        </p:txBody>
      </p:sp>
      <p:sp>
        <p:nvSpPr>
          <p:cNvPr id="482" name="Advantages: • Provides a simple and user-friendly interface for booking tickets online. • Prevents overbooking through proper validation and real-time ticket availability updates. • Ensures accurate data storage and retrieval using SQLite. • Reduces manu"/>
          <p:cNvSpPr txBox="1"/>
          <p:nvPr/>
        </p:nvSpPr>
        <p:spPr>
          <a:xfrm>
            <a:off x="2368210" y="1531616"/>
            <a:ext cx="12050458" cy="8117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sz="3200">
                <a:latin typeface="Times Roman"/>
                <a:ea typeface="Times Roman"/>
                <a:cs typeface="Times Roman"/>
                <a:sym typeface="Times Roman"/>
              </a:defRPr>
            </a:pPr>
            <a:r>
              <a:rPr b="1"/>
              <a:t>Advantages:</a:t>
            </a:r>
            <a:br/>
            <a:r>
              <a:t>• Provides a simple and user-friendly interface for booking tickets online.</a:t>
            </a:r>
            <a:br/>
            <a:r>
              <a:t>• Prevents overbooking through proper validation and real-time ticket availability updates.</a:t>
            </a:r>
            <a:br/>
            <a:r>
              <a:t>• Ensures accurate data storage and retrieval using SQLite.</a:t>
            </a:r>
            <a:br/>
            <a:r>
              <a:t>• Reduces manual effort and improves efficiency in managing event registrations.</a:t>
            </a:r>
          </a:p>
          <a:p>
            <a:pPr defTabSz="457200">
              <a:spcBef>
                <a:spcPts val="1200"/>
              </a:spcBef>
              <a:defRPr sz="3200">
                <a:latin typeface="Times Roman"/>
                <a:ea typeface="Times Roman"/>
                <a:cs typeface="Times Roman"/>
                <a:sym typeface="Times Roman"/>
              </a:defRPr>
            </a:pPr>
            <a:r>
              <a:rPr b="1"/>
              <a:t>Limitations:</a:t>
            </a:r>
            <a:br/>
            <a:r>
              <a:t>• Limited scalability as SQLite is not ideal for large-scale or multi-user high-traffic systems.</a:t>
            </a:r>
            <a:br/>
            <a:r>
              <a:t>• Requires internet and server setup for full functionality.</a:t>
            </a:r>
            <a:br/>
            <a:r>
              <a:t>• Basic UI may not provide advanced features like payment integration or notifications.</a:t>
            </a:r>
            <a:br/>
            <a:r>
              <a:t>• Limited real-time capabilities compared to fully synchronized multi-user systems.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sp>
        <p:nvSpPr>
          <p:cNvPr id="484" name="Freeform 32"/>
          <p:cNvSpPr/>
          <p:nvPr/>
        </p:nvSpPr>
        <p:spPr>
          <a:xfrm>
            <a:off x="16313419" y="1028699"/>
            <a:ext cx="945881" cy="236471"/>
          </a:xfrm>
          <a:prstGeom prst="rect">
            <a:avLst/>
          </a:prstGeom>
          <a:blipFill>
            <a:blip r:embed="rId2"/>
            <a:stretch>
              <a:fillRect/>
            </a:stretch>
          </a:blipFill>
          <a:ln w="12700">
            <a:miter lim="400000"/>
          </a:ln>
        </p:spPr>
        <p:txBody>
          <a:bodyPr lIns="45719" rIns="45719"/>
          <a:lstStyle/>
          <a:p>
            <a:pPr/>
          </a:p>
        </p:txBody>
      </p:sp>
      <p:sp>
        <p:nvSpPr>
          <p:cNvPr id="485" name="TextBox 43"/>
          <p:cNvSpPr txBox="1"/>
          <p:nvPr/>
        </p:nvSpPr>
        <p:spPr>
          <a:xfrm>
            <a:off x="3200400" y="4486171"/>
            <a:ext cx="11159653" cy="13503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0100"/>
              </a:lnSpc>
              <a:defRPr b="1" i="1" sz="11100">
                <a:solidFill>
                  <a:srgbClr val="191919"/>
                </a:solidFill>
                <a:latin typeface="Gotham Bold Italics"/>
                <a:ea typeface="Gotham Bold Italics"/>
                <a:cs typeface="Gotham Bold Italics"/>
                <a:sym typeface="Gotham Bold Italics"/>
              </a:defRPr>
            </a:lvl1pPr>
          </a:lstStyle>
          <a:p>
            <a:pPr/>
            <a:r>
              <a:t>Thank you</a:t>
            </a:r>
          </a:p>
        </p:txBody>
      </p:sp>
      <p:sp>
        <p:nvSpPr>
          <p:cNvPr id="486" name="Freeform 45"/>
          <p:cNvSpPr/>
          <p:nvPr/>
        </p:nvSpPr>
        <p:spPr>
          <a:xfrm>
            <a:off x="16786360" y="-353712"/>
            <a:ext cx="10994424" cy="10994424"/>
          </a:xfrm>
          <a:prstGeom prst="ellipse">
            <a:avLst/>
          </a:prstGeom>
          <a:ln w="619125" cap="sq">
            <a:solidFill>
              <a:srgbClr val="FD6220">
                <a:alpha val="11765"/>
              </a:srgbClr>
            </a:solidFill>
            <a:miter/>
          </a:ln>
        </p:spPr>
        <p:txBody>
          <a:bodyPr lIns="45719" rIns="45719"/>
          <a:lstStyle/>
          <a:p>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