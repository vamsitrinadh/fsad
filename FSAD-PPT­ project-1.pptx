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1"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D343A1-930D-421E-B7E0-05AE7D1908E4}" v="71" dt="2026-03-24T12:57:02.8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4849" autoAdjust="0"/>
  </p:normalViewPr>
  <p:slideViewPr>
    <p:cSldViewPr>
      <p:cViewPr varScale="1">
        <p:scale>
          <a:sx n="52" d="100"/>
          <a:sy n="52" d="100"/>
        </p:scale>
        <p:origin x="24" y="1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 vamsi" userId="77a672478e99f5d7" providerId="LiveId" clId="{5C7C2299-6FC7-4715-B012-34498D482375}"/>
    <pc:docChg chg="undo custSel addSld modSld">
      <pc:chgData name="D vamsi" userId="77a672478e99f5d7" providerId="LiveId" clId="{5C7C2299-6FC7-4715-B012-34498D482375}" dt="2026-03-25T05:37:49.893" v="192" actId="27636"/>
      <pc:docMkLst>
        <pc:docMk/>
      </pc:docMkLst>
      <pc:sldChg chg="modSp mod">
        <pc:chgData name="D vamsi" userId="77a672478e99f5d7" providerId="LiveId" clId="{5C7C2299-6FC7-4715-B012-34498D482375}" dt="2026-03-25T05:36:19.654" v="154" actId="5793"/>
        <pc:sldMkLst>
          <pc:docMk/>
          <pc:sldMk cId="0" sldId="256"/>
        </pc:sldMkLst>
        <pc:spChg chg="mod">
          <ac:chgData name="D vamsi" userId="77a672478e99f5d7" providerId="LiveId" clId="{5C7C2299-6FC7-4715-B012-34498D482375}" dt="2026-03-25T05:35:14.640" v="76" actId="20577"/>
          <ac:spMkLst>
            <pc:docMk/>
            <pc:sldMk cId="0" sldId="256"/>
            <ac:spMk id="15" creationId="{6FF32D1A-2F9C-AC53-CCBD-ABF748DF236F}"/>
          </ac:spMkLst>
        </pc:spChg>
        <pc:spChg chg="mod">
          <ac:chgData name="D vamsi" userId="77a672478e99f5d7" providerId="LiveId" clId="{5C7C2299-6FC7-4715-B012-34498D482375}" dt="2026-03-25T05:36:19.654" v="154" actId="5793"/>
          <ac:spMkLst>
            <pc:docMk/>
            <pc:sldMk cId="0" sldId="256"/>
            <ac:spMk id="16" creationId="{A7AA51DE-E8D7-A1B4-BC0D-B25C8A0C467A}"/>
          </ac:spMkLst>
        </pc:spChg>
        <pc:spChg chg="mod">
          <ac:chgData name="D vamsi" userId="77a672478e99f5d7" providerId="LiveId" clId="{5C7C2299-6FC7-4715-B012-34498D482375}" dt="2026-03-24T18:11:53.902" v="15" actId="20577"/>
          <ac:spMkLst>
            <pc:docMk/>
            <pc:sldMk cId="0" sldId="256"/>
            <ac:spMk id="27" creationId="{AC6C53BF-3850-6683-E07F-D595EC8B02B2}"/>
          </ac:spMkLst>
        </pc:spChg>
      </pc:sldChg>
      <pc:sldChg chg="modSp mod">
        <pc:chgData name="D vamsi" userId="77a672478e99f5d7" providerId="LiveId" clId="{5C7C2299-6FC7-4715-B012-34498D482375}" dt="2026-03-25T04:55:31.914" v="20" actId="14100"/>
        <pc:sldMkLst>
          <pc:docMk/>
          <pc:sldMk cId="47544820" sldId="267"/>
        </pc:sldMkLst>
        <pc:grpChg chg="mod">
          <ac:chgData name="D vamsi" userId="77a672478e99f5d7" providerId="LiveId" clId="{5C7C2299-6FC7-4715-B012-34498D482375}" dt="2026-03-25T04:55:31.914" v="20" actId="14100"/>
          <ac:grpSpMkLst>
            <pc:docMk/>
            <pc:sldMk cId="47544820" sldId="267"/>
            <ac:grpSpMk id="13" creationId="{B3E1A8FC-D0F1-BD05-9C14-C10EAE95E57E}"/>
          </ac:grpSpMkLst>
        </pc:grpChg>
      </pc:sldChg>
      <pc:sldChg chg="addSp delSp modSp new mod modClrScheme chgLayout">
        <pc:chgData name="D vamsi" userId="77a672478e99f5d7" providerId="LiveId" clId="{5C7C2299-6FC7-4715-B012-34498D482375}" dt="2026-03-25T05:37:49.893" v="192" actId="27636"/>
        <pc:sldMkLst>
          <pc:docMk/>
          <pc:sldMk cId="3371410242" sldId="271"/>
        </pc:sldMkLst>
        <pc:spChg chg="add mod">
          <ac:chgData name="D vamsi" userId="77a672478e99f5d7" providerId="LiveId" clId="{5C7C2299-6FC7-4715-B012-34498D482375}" dt="2026-03-25T04:55:17.597" v="19" actId="255"/>
          <ac:spMkLst>
            <pc:docMk/>
            <pc:sldMk cId="3371410242" sldId="271"/>
            <ac:spMk id="3" creationId="{EB230437-3F36-291E-DE7B-E620E05638E4}"/>
          </ac:spMkLst>
        </pc:spChg>
        <pc:spChg chg="add del mod ord">
          <ac:chgData name="D vamsi" userId="77a672478e99f5d7" providerId="LiveId" clId="{5C7C2299-6FC7-4715-B012-34498D482375}" dt="2026-03-25T04:59:49.723" v="40" actId="700"/>
          <ac:spMkLst>
            <pc:docMk/>
            <pc:sldMk cId="3371410242" sldId="271"/>
            <ac:spMk id="6" creationId="{F9FF6DB9-6308-DB20-4AFE-F0441D24BF7D}"/>
          </ac:spMkLst>
        </pc:spChg>
        <pc:spChg chg="add del mod ord">
          <ac:chgData name="D vamsi" userId="77a672478e99f5d7" providerId="LiveId" clId="{5C7C2299-6FC7-4715-B012-34498D482375}" dt="2026-03-25T04:59:49.723" v="40" actId="700"/>
          <ac:spMkLst>
            <pc:docMk/>
            <pc:sldMk cId="3371410242" sldId="271"/>
            <ac:spMk id="7" creationId="{AEEBAE9F-A158-4939-B5B1-FF8656793E63}"/>
          </ac:spMkLst>
        </pc:spChg>
        <pc:spChg chg="add mod ord">
          <ac:chgData name="D vamsi" userId="77a672478e99f5d7" providerId="LiveId" clId="{5C7C2299-6FC7-4715-B012-34498D482375}" dt="2026-03-25T05:37:49.893" v="192" actId="27636"/>
          <ac:spMkLst>
            <pc:docMk/>
            <pc:sldMk cId="3371410242" sldId="271"/>
            <ac:spMk id="8" creationId="{7E2D773B-E35D-5AA2-992C-B4EF1518AD23}"/>
          </ac:spMkLst>
        </pc:spChg>
        <pc:picChg chg="add mod">
          <ac:chgData name="D vamsi" userId="77a672478e99f5d7" providerId="LiveId" clId="{5C7C2299-6FC7-4715-B012-34498D482375}" dt="2026-03-25T05:37:22.294" v="156" actId="1076"/>
          <ac:picMkLst>
            <pc:docMk/>
            <pc:sldMk cId="3371410242" sldId="271"/>
            <ac:picMk id="5" creationId="{51E304D8-B5D9-F137-E114-74CEDD8653D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a:t>
            </a:r>
            <a:r>
              <a:rPr lang="en-IN" sz="3600" b="1">
                <a:solidFill>
                  <a:srgbClr val="C00000"/>
                </a:solidFill>
                <a:latin typeface="Arial" panose="020B0604020202020204" pitchFamily="34" charset="0"/>
                <a:cs typeface="Arial" panose="020B0604020202020204" pitchFamily="34" charset="0"/>
              </a:rPr>
              <a:t>: 25-03-2026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1430820" y="5788739"/>
            <a:ext cx="15784162" cy="646331"/>
          </a:xfrm>
          <a:prstGeom prst="rect">
            <a:avLst/>
          </a:prstGeom>
          <a:noFill/>
        </p:spPr>
        <p:txBody>
          <a:bodyPr wrap="square" rtlCol="0">
            <a:spAutoFit/>
          </a:bodyPr>
          <a:lstStyle/>
          <a:p>
            <a:pPr algn="ctr"/>
            <a:r>
              <a:rPr lang="en-US" sz="3600" dirty="0">
                <a:solidFill>
                  <a:srgbClr val="0070C0"/>
                </a:solidFill>
              </a:rPr>
              <a:t>Academic Campus Event &amp; Registration Portal</a:t>
            </a:r>
            <a:endParaRPr lang="en-IN" sz="3600" b="1" dirty="0">
              <a:solidFill>
                <a:srgbClr val="0070C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VAMSI TRINADH DIRSIMILLI – VTU25924</a:t>
            </a:r>
            <a:r>
              <a:rPr lang="en-US" sz="3000">
                <a:latin typeface="Cambria" panose="02040503050406030204" pitchFamily="18" charset="0"/>
                <a:ea typeface="Cambria" panose="02040503050406030204" pitchFamily="18" charset="0"/>
              </a:rPr>
              <a:t>– 23UECS1053</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1142770" y="7372410"/>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S.HEMAMALINI,M.E.,</a:t>
            </a:r>
            <a:r>
              <a:rPr lang="en-US" sz="3000" dirty="0" err="1">
                <a:latin typeface="Cambria" panose="02040503050406030204" pitchFamily="18" charset="0"/>
                <a:ea typeface="Cambria" panose="02040503050406030204" pitchFamily="18" charset="0"/>
              </a:rPr>
              <a:t>Ph.D</a:t>
            </a:r>
            <a:r>
              <a:rPr lang="en-US" sz="3000" dirty="0">
                <a:latin typeface="Cambria" panose="02040503050406030204" pitchFamily="18" charset="0"/>
                <a:ea typeface="Cambria" panose="02040503050406030204" pitchFamily="18" charset="0"/>
              </a:rPr>
              <a:t>.,</a:t>
            </a:r>
          </a:p>
          <a:p>
            <a:pPr>
              <a:lnSpc>
                <a:spcPct val="150000"/>
              </a:lnSpc>
            </a:pPr>
            <a:r>
              <a:rPr lang="en-US" sz="3000" dirty="0">
                <a:latin typeface="Cambria" panose="02040503050406030204" pitchFamily="18" charset="0"/>
                <a:ea typeface="Cambria" panose="02040503050406030204" pitchFamily="18" charset="0"/>
              </a:rPr>
              <a:t>Assistant Professor (Senior grade) </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4 – Quality Education (Promoting Effective management of education events)</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66DE6B0-AD15-B08A-8D2A-85F99B5BD635}"/>
              </a:ext>
            </a:extLst>
          </p:cNvPr>
          <p:cNvSpPr txBox="1"/>
          <p:nvPr/>
        </p:nvSpPr>
        <p:spPr>
          <a:xfrm>
            <a:off x="2590800" y="1809603"/>
            <a:ext cx="14991118" cy="4401205"/>
          </a:xfrm>
          <a:prstGeom prst="rect">
            <a:avLst/>
          </a:prstGeom>
          <a:noFill/>
        </p:spPr>
        <p:txBody>
          <a:bodyPr wrap="square">
            <a:spAutoFit/>
          </a:bodyPr>
          <a:lstStyle/>
          <a:p>
            <a:pPr algn="just">
              <a:buNone/>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Academic Campus Event &amp; Registration Portal</a:t>
            </a:r>
            <a:r>
              <a:rPr lang="en-US" sz="2800" dirty="0">
                <a:latin typeface="Times New Roman" panose="02020603050405020304" pitchFamily="18" charset="0"/>
                <a:cs typeface="Times New Roman" panose="02020603050405020304" pitchFamily="18" charset="0"/>
              </a:rPr>
              <a:t> is a web-based platform developed to simplify the management and registration of campus events. It provides a centralized system where students can easily view upcoming academic, technical, sports, and cultural events organized within the campus. Through this portal, students can register for events by entering details such as their name, student ID, department, and contact information. The system helps event organizers efficiently manage participant data and track registrations. By replacing manual registration methods, the portal saves time, reduces paperwork, and improves accuracy. It also enhances communication between students and event coordinators, ensuring that information about events reaches students quickly. Overall, the portal promotes better participation and engagement in campus activities while making the event management process more organized and efficient.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749460" y="1638300"/>
            <a:ext cx="15542665" cy="3970318"/>
          </a:xfrm>
          <a:prstGeom prst="rect">
            <a:avLst/>
          </a:prstGeom>
          <a:noFill/>
        </p:spPr>
        <p:txBody>
          <a:bodyPr wrap="square" rtlCol="0">
            <a:spAutoFit/>
          </a:bodyPr>
          <a:lstStyle/>
          <a:p>
            <a:pPr algn="just"/>
            <a:r>
              <a:rPr lang="en-US" sz="2800" dirty="0"/>
              <a:t>In many colleges, event registration and management are still handled manually through paper forms, emails, or scattered online tools. This manual process often leads to errors, loss of data, and difficulty in maintaining participant records. Event organizers face challenges in collecting registrations, verifying student details, and tracking the number of participants. Students may also miss event information due to the absence of a centralized platform. Managing updates, schedules, and participant lists becomes time-consuming and inefficient. There is a need for a reliable digital system where students can easily view available events and register online. The system should securely store student details and event information in a structured database. Implementing an automated event registration portal will improve efficiency, reduce manual work, and provide better management of campus events.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8" name="Rectangle 4">
            <a:extLst>
              <a:ext uri="{FF2B5EF4-FFF2-40B4-BE49-F238E27FC236}">
                <a16:creationId xmlns:a16="http://schemas.microsoft.com/office/drawing/2014/main" id="{61D5E67A-9F59-82A1-E985-CCF52D5BABFE}"/>
              </a:ext>
            </a:extLst>
          </p:cNvPr>
          <p:cNvSpPr>
            <a:spLocks noChangeArrowheads="1"/>
          </p:cNvSpPr>
          <p:nvPr/>
        </p:nvSpPr>
        <p:spPr bwMode="auto">
          <a:xfrm>
            <a:off x="1715913" y="2267650"/>
            <a:ext cx="16191088" cy="7108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9" name="TextBox 38">
            <a:extLst>
              <a:ext uri="{FF2B5EF4-FFF2-40B4-BE49-F238E27FC236}">
                <a16:creationId xmlns:a16="http://schemas.microsoft.com/office/drawing/2014/main" id="{38868012-907F-9732-6283-96AAEBA7DF92}"/>
              </a:ext>
            </a:extLst>
          </p:cNvPr>
          <p:cNvSpPr txBox="1"/>
          <p:nvPr/>
        </p:nvSpPr>
        <p:spPr>
          <a:xfrm>
            <a:off x="1749460" y="2933700"/>
            <a:ext cx="16191089" cy="2246769"/>
          </a:xfrm>
          <a:prstGeom prst="rect">
            <a:avLst/>
          </a:prstGeom>
          <a:noFill/>
        </p:spPr>
        <p:txBody>
          <a:bodyPr wrap="square" rtlCol="0">
            <a:spAutoFit/>
          </a:bodyPr>
          <a:lstStyle/>
          <a:p>
            <a:pPr marL="342900" indent="-342900">
              <a:buFont typeface="+mj-lt"/>
              <a:buAutoNum type="arabicPeriod"/>
            </a:pPr>
            <a:r>
              <a:rPr lang="en-US" sz="2800" b="1" dirty="0">
                <a:latin typeface="Times New Roman" panose="02020603050405020304" pitchFamily="18" charset="0"/>
                <a:cs typeface="Times New Roman" panose="02020603050405020304" pitchFamily="18" charset="0"/>
              </a:rPr>
              <a:t>To design and develop</a:t>
            </a:r>
            <a:r>
              <a:rPr lang="en-US" sz="2800" dirty="0">
                <a:latin typeface="Times New Roman" panose="02020603050405020304" pitchFamily="18" charset="0"/>
                <a:cs typeface="Times New Roman" panose="02020603050405020304" pitchFamily="18" charset="0"/>
              </a:rPr>
              <a:t> a scalable and user-friendly web-based Academic Campus Event Registration Portal using modern web technologies, enabling students to view event details, register online, and access event-related updates efficiently.</a:t>
            </a:r>
          </a:p>
          <a:p>
            <a:pPr marL="342900" indent="-342900">
              <a:buFont typeface="+mj-lt"/>
              <a:buAutoNum type="arabicPeriod"/>
            </a:pPr>
            <a:r>
              <a:rPr lang="en-US" sz="2800" b="1" dirty="0">
                <a:latin typeface="Times New Roman" panose="02020603050405020304" pitchFamily="18" charset="0"/>
                <a:cs typeface="Times New Roman" panose="02020603050405020304" pitchFamily="18" charset="0"/>
              </a:rPr>
              <a:t>To implement</a:t>
            </a:r>
            <a:r>
              <a:rPr lang="en-US" sz="2800" dirty="0">
                <a:latin typeface="Times New Roman" panose="02020603050405020304" pitchFamily="18" charset="0"/>
                <a:cs typeface="Times New Roman" panose="02020603050405020304" pitchFamily="18" charset="0"/>
              </a:rPr>
              <a:t> a centralized database-driven system that manages event information and student registration data, providing secure data storage, easy retrieval, and efficient event management for organizers.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5693866"/>
          </a:xfrm>
          <a:prstGeom prst="rect">
            <a:avLst/>
          </a:prstGeom>
          <a:noFill/>
        </p:spPr>
        <p:txBody>
          <a:bodyPr wrap="square" rtlCol="0">
            <a:spAutoFit/>
          </a:bodyPr>
          <a:lstStyle/>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The system provides a </a:t>
            </a:r>
            <a:r>
              <a:rPr lang="en-US" sz="2800" b="1" dirty="0">
                <a:latin typeface="Times New Roman" panose="02020603050405020304" pitchFamily="18" charset="0"/>
                <a:cs typeface="Times New Roman" panose="02020603050405020304" pitchFamily="18" charset="0"/>
              </a:rPr>
              <a:t>web-based platform</a:t>
            </a:r>
            <a:r>
              <a:rPr lang="en-US" sz="2800" dirty="0">
                <a:latin typeface="Times New Roman" panose="02020603050405020304" pitchFamily="18" charset="0"/>
                <a:cs typeface="Times New Roman" panose="02020603050405020304" pitchFamily="18" charset="0"/>
              </a:rPr>
              <a:t> where students can view available campus events and register online easily.</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It stores </a:t>
            </a:r>
            <a:r>
              <a:rPr lang="en-US" sz="2800" b="1" dirty="0">
                <a:latin typeface="Times New Roman" panose="02020603050405020304" pitchFamily="18" charset="0"/>
                <a:cs typeface="Times New Roman" panose="02020603050405020304" pitchFamily="18" charset="0"/>
              </a:rPr>
              <a:t>student and event details in a centralized database</a:t>
            </a:r>
            <a:r>
              <a:rPr lang="en-US" sz="2800" dirty="0">
                <a:latin typeface="Times New Roman" panose="02020603050405020304" pitchFamily="18" charset="0"/>
                <a:cs typeface="Times New Roman" panose="02020603050405020304" pitchFamily="18" charset="0"/>
              </a:rPr>
              <a:t> for efficient management and quick access.</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Event organizers can </a:t>
            </a:r>
            <a:r>
              <a:rPr lang="en-US" sz="2800" b="1" dirty="0">
                <a:latin typeface="Times New Roman" panose="02020603050405020304" pitchFamily="18" charset="0"/>
                <a:cs typeface="Times New Roman" panose="02020603050405020304" pitchFamily="18" charset="0"/>
              </a:rPr>
              <a:t>create, update, and manage events</a:t>
            </a:r>
            <a:r>
              <a:rPr lang="en-US" sz="2800" dirty="0">
                <a:latin typeface="Times New Roman" panose="02020603050405020304" pitchFamily="18" charset="0"/>
                <a:cs typeface="Times New Roman" panose="02020603050405020304" pitchFamily="18" charset="0"/>
              </a:rPr>
              <a:t> through the portal.</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The system allows </a:t>
            </a:r>
            <a:r>
              <a:rPr lang="en-US" sz="2800" b="1" dirty="0">
                <a:latin typeface="Times New Roman" panose="02020603050405020304" pitchFamily="18" charset="0"/>
                <a:cs typeface="Times New Roman" panose="02020603050405020304" pitchFamily="18" charset="0"/>
              </a:rPr>
              <a:t>students to register for events without manual forms</a:t>
            </a:r>
            <a:r>
              <a:rPr lang="en-US" sz="2800" dirty="0">
                <a:latin typeface="Times New Roman" panose="02020603050405020304" pitchFamily="18" charset="0"/>
                <a:cs typeface="Times New Roman" panose="02020603050405020304" pitchFamily="18" charset="0"/>
              </a:rPr>
              <a:t>, reducing paperwork.</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It provides </a:t>
            </a:r>
            <a:r>
              <a:rPr lang="en-US" sz="2800" b="1" dirty="0">
                <a:latin typeface="Times New Roman" panose="02020603050405020304" pitchFamily="18" charset="0"/>
                <a:cs typeface="Times New Roman" panose="02020603050405020304" pitchFamily="18" charset="0"/>
              </a:rPr>
              <a:t>accurate participant records</a:t>
            </a:r>
            <a:r>
              <a:rPr lang="en-US" sz="2800" dirty="0">
                <a:latin typeface="Times New Roman" panose="02020603050405020304" pitchFamily="18" charset="0"/>
                <a:cs typeface="Times New Roman" panose="02020603050405020304" pitchFamily="18" charset="0"/>
              </a:rPr>
              <a:t>, minimizing errors and duplicate registrations</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Organizers can </a:t>
            </a:r>
            <a:r>
              <a:rPr lang="en-US" sz="2800" b="1" dirty="0">
                <a:latin typeface="Times New Roman" panose="02020603050405020304" pitchFamily="18" charset="0"/>
                <a:cs typeface="Times New Roman" panose="02020603050405020304" pitchFamily="18" charset="0"/>
              </a:rPr>
              <a:t>track the number of registered participants</a:t>
            </a:r>
            <a:r>
              <a:rPr lang="en-US" sz="2800" dirty="0">
                <a:latin typeface="Times New Roman" panose="02020603050405020304" pitchFamily="18" charset="0"/>
                <a:cs typeface="Times New Roman" panose="02020603050405020304" pitchFamily="18" charset="0"/>
              </a:rPr>
              <a:t> and manage event participation effectively</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The portal ensures </a:t>
            </a:r>
            <a:r>
              <a:rPr lang="en-US" sz="2800" b="1" dirty="0">
                <a:latin typeface="Times New Roman" panose="02020603050405020304" pitchFamily="18" charset="0"/>
                <a:cs typeface="Times New Roman" panose="02020603050405020304" pitchFamily="18" charset="0"/>
              </a:rPr>
              <a:t>secure storage and easy retrieval of event and student data</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Overall, the system </a:t>
            </a:r>
            <a:r>
              <a:rPr lang="en-US" sz="2800" b="1" dirty="0">
                <a:latin typeface="Times New Roman" panose="02020603050405020304" pitchFamily="18" charset="0"/>
                <a:cs typeface="Times New Roman" panose="02020603050405020304" pitchFamily="18" charset="0"/>
              </a:rPr>
              <a:t>improves efficiency, reduces manual work, and simplifies campus event management</a:t>
            </a:r>
            <a:r>
              <a:rPr lang="en-US" sz="2800" dirty="0">
                <a:latin typeface="Times New Roman" panose="02020603050405020304" pitchFamily="18" charset="0"/>
                <a:cs typeface="Times New Roman" panose="02020603050405020304" pitchFamily="18" charset="0"/>
              </a:rPr>
              <a:t>. </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728098" y="1977271"/>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F4FCB180-AE53-4B04-0F40-6D16F3235D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4600" y="1552562"/>
            <a:ext cx="11446368" cy="71290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25AB3F1-F305-35A5-8434-7046B924CC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5007" y="1470534"/>
            <a:ext cx="14630400" cy="7696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635007" y="1514340"/>
            <a:ext cx="16238306" cy="14003834"/>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Frontend:</a:t>
            </a:r>
          </a:p>
          <a:p>
            <a:pPr algn="just"/>
            <a:r>
              <a:rPr lang="en-US" sz="2400" b="1" dirty="0">
                <a:latin typeface="Times New Roman" panose="02020603050405020304" pitchFamily="18" charset="0"/>
                <a:cs typeface="Times New Roman" panose="02020603050405020304" pitchFamily="18" charset="0"/>
              </a:rPr>
              <a:t>HTML5</a:t>
            </a:r>
            <a:r>
              <a:rPr lang="en-US" sz="2400" dirty="0">
                <a:latin typeface="Times New Roman" panose="02020603050405020304" pitchFamily="18" charset="0"/>
                <a:cs typeface="Times New Roman" panose="02020603050405020304" pitchFamily="18" charset="0"/>
              </a:rPr>
              <a:t> – Used to design the structure of the event registration portal. </a:t>
            </a:r>
          </a:p>
          <a:p>
            <a:pPr algn="just"/>
            <a:r>
              <a:rPr lang="en-US" sz="2400" b="1" dirty="0">
                <a:latin typeface="Times New Roman" panose="02020603050405020304" pitchFamily="18" charset="0"/>
                <a:cs typeface="Times New Roman" panose="02020603050405020304" pitchFamily="18" charset="0"/>
              </a:rPr>
              <a:t>CSS3</a:t>
            </a:r>
            <a:r>
              <a:rPr lang="en-US" sz="2400" dirty="0">
                <a:latin typeface="Times New Roman" panose="02020603050405020304" pitchFamily="18" charset="0"/>
                <a:cs typeface="Times New Roman" panose="02020603050405020304" pitchFamily="18" charset="0"/>
              </a:rPr>
              <a:t> – Used for styling, layout, and responsive design of the web interface. </a:t>
            </a:r>
          </a:p>
          <a:p>
            <a:pPr algn="just"/>
            <a:r>
              <a:rPr lang="en-US" sz="2400" b="1" dirty="0">
                <a:latin typeface="Times New Roman" panose="02020603050405020304" pitchFamily="18" charset="0"/>
                <a:cs typeface="Times New Roman" panose="02020603050405020304" pitchFamily="18" charset="0"/>
              </a:rPr>
              <a:t>JavaScript</a:t>
            </a:r>
            <a:r>
              <a:rPr lang="en-US" sz="2400" dirty="0">
                <a:latin typeface="Times New Roman" panose="02020603050405020304" pitchFamily="18" charset="0"/>
                <a:cs typeface="Times New Roman" panose="02020603050405020304" pitchFamily="18" charset="0"/>
              </a:rPr>
              <a:t> – Used to connect the frontend form with Firebase and handle form submission.</a:t>
            </a:r>
          </a:p>
          <a:p>
            <a:pPr algn="just"/>
            <a:endParaRPr lang="en-US" sz="28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Backend:</a:t>
            </a:r>
          </a:p>
          <a:p>
            <a:pPr algn="just"/>
            <a:r>
              <a:rPr lang="en-US" sz="2400" b="1" dirty="0">
                <a:latin typeface="Times New Roman" panose="02020603050405020304" pitchFamily="18" charset="0"/>
                <a:cs typeface="Times New Roman" panose="02020603050405020304" pitchFamily="18" charset="0"/>
              </a:rPr>
              <a:t>Firebase Services</a:t>
            </a:r>
            <a:r>
              <a:rPr lang="en-US" sz="2400" dirty="0">
                <a:latin typeface="Times New Roman" panose="02020603050405020304" pitchFamily="18" charset="0"/>
                <a:cs typeface="Times New Roman" panose="02020603050405020304" pitchFamily="18" charset="0"/>
              </a:rPr>
              <a:t> – Used as a backend platform to manage authentication, database storage, and real-time data handling without a traditional server.</a:t>
            </a:r>
          </a:p>
          <a:p>
            <a:pPr algn="just"/>
            <a:endParaRPr lang="en-US" sz="28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Database:</a:t>
            </a:r>
          </a:p>
          <a:p>
            <a:pPr algn="just"/>
            <a:r>
              <a:rPr lang="en-US" sz="2400" b="1" dirty="0">
                <a:latin typeface="Times New Roman" panose="02020603050405020304" pitchFamily="18" charset="0"/>
                <a:cs typeface="Times New Roman" panose="02020603050405020304" pitchFamily="18" charset="0"/>
              </a:rPr>
              <a:t>Firebase Realtime Database / Cloud </a:t>
            </a:r>
            <a:r>
              <a:rPr lang="en-US" sz="2400" b="1" dirty="0" err="1">
                <a:latin typeface="Times New Roman" panose="02020603050405020304" pitchFamily="18" charset="0"/>
                <a:cs typeface="Times New Roman" panose="02020603050405020304" pitchFamily="18" charset="0"/>
              </a:rPr>
              <a:t>Firestore</a:t>
            </a:r>
            <a:r>
              <a:rPr lang="en-US" sz="2400" dirty="0">
                <a:latin typeface="Times New Roman" panose="02020603050405020304" pitchFamily="18" charset="0"/>
                <a:cs typeface="Times New Roman" panose="02020603050405020304" pitchFamily="18" charset="0"/>
              </a:rPr>
              <a:t> – Used to store student registration details such as: </a:t>
            </a:r>
          </a:p>
          <a:p>
            <a:pPr marL="914400" lvl="1"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Name </a:t>
            </a:r>
          </a:p>
          <a:p>
            <a:pPr marL="914400" lvl="1"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Student ID </a:t>
            </a:r>
          </a:p>
          <a:p>
            <a:pPr marL="914400" lvl="1"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Email </a:t>
            </a:r>
          </a:p>
          <a:p>
            <a:pPr marL="914400" lvl="1"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Department </a:t>
            </a:r>
          </a:p>
          <a:p>
            <a:pPr marL="914400" lvl="1"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Selected Event</a:t>
            </a:r>
          </a:p>
          <a:p>
            <a:pPr lvl="1"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Tools Used:</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Visual Studio Code (VS Code)</a:t>
            </a:r>
            <a:r>
              <a:rPr lang="en-US" sz="2400" dirty="0">
                <a:latin typeface="Times New Roman" panose="02020603050405020304" pitchFamily="18" charset="0"/>
                <a:cs typeface="Times New Roman" panose="02020603050405020304" pitchFamily="18" charset="0"/>
              </a:rPr>
              <a:t> – For writing and editing code.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Firebase Console</a:t>
            </a:r>
            <a:r>
              <a:rPr lang="en-US" sz="2400" dirty="0">
                <a:latin typeface="Times New Roman" panose="02020603050405020304" pitchFamily="18" charset="0"/>
                <a:cs typeface="Times New Roman" panose="02020603050405020304" pitchFamily="18" charset="0"/>
              </a:rPr>
              <a:t> – For managing the database and project settings.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Web Browser (Chrome / Edge)</a:t>
            </a:r>
            <a:r>
              <a:rPr lang="en-US" sz="2400" dirty="0">
                <a:latin typeface="Times New Roman" panose="02020603050405020304" pitchFamily="18" charset="0"/>
                <a:cs typeface="Times New Roman" panose="02020603050405020304" pitchFamily="18" charset="0"/>
              </a:rPr>
              <a:t> – For testing the web application.</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5262979"/>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Module 1: Student Registration</a:t>
            </a:r>
          </a:p>
          <a:p>
            <a:r>
              <a:rPr lang="en-US" sz="2800" dirty="0">
                <a:latin typeface="Times New Roman" panose="02020603050405020304" pitchFamily="18" charset="0"/>
                <a:cs typeface="Times New Roman" panose="02020603050405020304" pitchFamily="18" charset="0"/>
              </a:rPr>
              <a:t>Allows students to enter details such as </a:t>
            </a:r>
            <a:r>
              <a:rPr lang="en-US" sz="2800" b="1" dirty="0">
                <a:latin typeface="Times New Roman" panose="02020603050405020304" pitchFamily="18" charset="0"/>
                <a:cs typeface="Times New Roman" panose="02020603050405020304" pitchFamily="18" charset="0"/>
              </a:rPr>
              <a:t>name, student ID, email, department, and selected event</a:t>
            </a:r>
            <a:r>
              <a:rPr lang="en-US" sz="2800" dirty="0">
                <a:latin typeface="Times New Roman" panose="02020603050405020304" pitchFamily="18" charset="0"/>
                <a:cs typeface="Times New Roman" panose="02020603050405020304" pitchFamily="18" charset="0"/>
              </a:rPr>
              <a:t> through the online registration form.</a:t>
            </a:r>
          </a:p>
          <a:p>
            <a:r>
              <a:rPr lang="en-US" sz="2800" b="1" dirty="0">
                <a:latin typeface="Times New Roman" panose="02020603050405020304" pitchFamily="18" charset="0"/>
                <a:cs typeface="Times New Roman" panose="02020603050405020304" pitchFamily="18" charset="0"/>
              </a:rPr>
              <a:t>Module 2: Event Management</a:t>
            </a:r>
          </a:p>
          <a:p>
            <a:r>
              <a:rPr lang="en-US" sz="2800" dirty="0">
                <a:latin typeface="Times New Roman" panose="02020603050405020304" pitchFamily="18" charset="0"/>
                <a:cs typeface="Times New Roman" panose="02020603050405020304" pitchFamily="18" charset="0"/>
              </a:rPr>
              <a:t>Displays available campus events such as </a:t>
            </a:r>
            <a:r>
              <a:rPr lang="en-US" sz="2800" b="1" dirty="0">
                <a:latin typeface="Times New Roman" panose="02020603050405020304" pitchFamily="18" charset="0"/>
                <a:cs typeface="Times New Roman" panose="02020603050405020304" pitchFamily="18" charset="0"/>
              </a:rPr>
              <a:t>technical, cultural, sports, and academic events</a:t>
            </a:r>
            <a:r>
              <a:rPr lang="en-US" sz="2800" dirty="0">
                <a:latin typeface="Times New Roman" panose="02020603050405020304" pitchFamily="18" charset="0"/>
                <a:cs typeface="Times New Roman" panose="02020603050405020304" pitchFamily="18" charset="0"/>
              </a:rPr>
              <a:t>, allowing students to view details and choose events for participation.</a:t>
            </a:r>
          </a:p>
          <a:p>
            <a:r>
              <a:rPr lang="en-US" sz="2800" b="1" dirty="0">
                <a:latin typeface="Times New Roman" panose="02020603050405020304" pitchFamily="18" charset="0"/>
                <a:cs typeface="Times New Roman" panose="02020603050405020304" pitchFamily="18" charset="0"/>
              </a:rPr>
              <a:t>Module 3: Database Management</a:t>
            </a:r>
          </a:p>
          <a:p>
            <a:r>
              <a:rPr lang="en-US" sz="2800" dirty="0">
                <a:latin typeface="Times New Roman" panose="02020603050405020304" pitchFamily="18" charset="0"/>
                <a:cs typeface="Times New Roman" panose="02020603050405020304" pitchFamily="18" charset="0"/>
              </a:rPr>
              <a:t>Stores and manages </a:t>
            </a:r>
            <a:r>
              <a:rPr lang="en-US" sz="2800" b="1" dirty="0">
                <a:latin typeface="Times New Roman" panose="02020603050405020304" pitchFamily="18" charset="0"/>
                <a:cs typeface="Times New Roman" panose="02020603050405020304" pitchFamily="18" charset="0"/>
              </a:rPr>
              <a:t>student registration data and event information</a:t>
            </a:r>
            <a:r>
              <a:rPr lang="en-US" sz="2800" dirty="0">
                <a:latin typeface="Times New Roman" panose="02020603050405020304" pitchFamily="18" charset="0"/>
                <a:cs typeface="Times New Roman" panose="02020603050405020304" pitchFamily="18" charset="0"/>
              </a:rPr>
              <a:t> using the </a:t>
            </a:r>
            <a:r>
              <a:rPr lang="en-US" sz="2800" b="1" dirty="0">
                <a:latin typeface="Times New Roman" panose="02020603050405020304" pitchFamily="18" charset="0"/>
                <a:cs typeface="Times New Roman" panose="02020603050405020304" pitchFamily="18" charset="0"/>
              </a:rPr>
              <a:t>Firebase database</a:t>
            </a:r>
            <a:r>
              <a:rPr lang="en-US" sz="2800" dirty="0">
                <a:latin typeface="Times New Roman" panose="02020603050405020304" pitchFamily="18" charset="0"/>
                <a:cs typeface="Times New Roman" panose="02020603050405020304" pitchFamily="18" charset="0"/>
              </a:rPr>
              <a:t>, ensuring secure and organized data storage.</a:t>
            </a:r>
          </a:p>
          <a:p>
            <a:r>
              <a:rPr lang="en-US" sz="2800" b="1" dirty="0">
                <a:latin typeface="Times New Roman" panose="02020603050405020304" pitchFamily="18" charset="0"/>
                <a:cs typeface="Times New Roman" panose="02020603050405020304" pitchFamily="18" charset="0"/>
              </a:rPr>
              <a:t>Module 4: Registration Confirmation &amp; Management</a:t>
            </a:r>
          </a:p>
          <a:p>
            <a:r>
              <a:rPr lang="en-US" sz="2800" dirty="0">
                <a:latin typeface="Times New Roman" panose="02020603050405020304" pitchFamily="18" charset="0"/>
                <a:cs typeface="Times New Roman" panose="02020603050405020304" pitchFamily="18" charset="0"/>
              </a:rPr>
              <a:t>Processes the registration request and provides </a:t>
            </a:r>
            <a:r>
              <a:rPr lang="en-US" sz="2800" b="1" dirty="0">
                <a:latin typeface="Times New Roman" panose="02020603050405020304" pitchFamily="18" charset="0"/>
                <a:cs typeface="Times New Roman" panose="02020603050405020304" pitchFamily="18" charset="0"/>
              </a:rPr>
              <a:t>confirmation of successful event registration</a:t>
            </a:r>
            <a:r>
              <a:rPr lang="en-US" sz="2800" dirty="0">
                <a:latin typeface="Times New Roman" panose="02020603050405020304" pitchFamily="18" charset="0"/>
                <a:cs typeface="Times New Roman" panose="02020603050405020304" pitchFamily="18" charset="0"/>
              </a:rPr>
              <a:t>, while allowing organizers to view participant details.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360CE4A-A136-3BE0-D5D6-FD0BB870C8BB}"/>
              </a:ext>
            </a:extLst>
          </p:cNvPr>
          <p:cNvPicPr>
            <a:picLocks noChangeAspect="1"/>
          </p:cNvPicPr>
          <p:nvPr/>
        </p:nvPicPr>
        <p:blipFill>
          <a:blip r:embed="rId4"/>
          <a:stretch>
            <a:fillRect/>
          </a:stretch>
        </p:blipFill>
        <p:spPr>
          <a:xfrm>
            <a:off x="3297154" y="2160797"/>
            <a:ext cx="8987935" cy="6859477"/>
          </a:xfrm>
          <a:prstGeom prst="rect">
            <a:avLst/>
          </a:prstGeom>
        </p:spPr>
      </p:pic>
      <p:sp>
        <p:nvSpPr>
          <p:cNvPr id="4" name="TextBox 3">
            <a:extLst>
              <a:ext uri="{FF2B5EF4-FFF2-40B4-BE49-F238E27FC236}">
                <a16:creationId xmlns:a16="http://schemas.microsoft.com/office/drawing/2014/main" id="{106FDD1D-E4A0-9065-86DE-58D7704486F9}"/>
              </a:ext>
            </a:extLst>
          </p:cNvPr>
          <p:cNvSpPr txBox="1"/>
          <p:nvPr/>
        </p:nvSpPr>
        <p:spPr>
          <a:xfrm>
            <a:off x="1828800" y="1562100"/>
            <a:ext cx="388620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Login  page: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954107"/>
          </a:xfrm>
          <a:prstGeom prst="rect">
            <a:avLst/>
          </a:prstGeom>
          <a:noFill/>
        </p:spPr>
        <p:txBody>
          <a:bodyPr wrap="square" rtlCol="0">
            <a:spAutoFit/>
          </a:bodyPr>
          <a:lstStyle/>
          <a:p>
            <a:r>
              <a:rPr lang="en-US" sz="2800" dirty="0"/>
              <a:t>Home Page:</a:t>
            </a:r>
          </a:p>
          <a:p>
            <a:endParaRPr lang="en-IN" sz="2800" dirty="0"/>
          </a:p>
        </p:txBody>
      </p:sp>
      <p:pic>
        <p:nvPicPr>
          <p:cNvPr id="3" name="Picture 2">
            <a:extLst>
              <a:ext uri="{FF2B5EF4-FFF2-40B4-BE49-F238E27FC236}">
                <a16:creationId xmlns:a16="http://schemas.microsoft.com/office/drawing/2014/main" id="{6AC984EF-FECB-92E1-8CAF-D7896093678E}"/>
              </a:ext>
            </a:extLst>
          </p:cNvPr>
          <p:cNvPicPr>
            <a:picLocks noChangeAspect="1"/>
          </p:cNvPicPr>
          <p:nvPr/>
        </p:nvPicPr>
        <p:blipFill>
          <a:blip r:embed="rId4"/>
          <a:stretch>
            <a:fillRect/>
          </a:stretch>
        </p:blipFill>
        <p:spPr>
          <a:xfrm>
            <a:off x="3276600" y="2475171"/>
            <a:ext cx="10197787" cy="662047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1937"/>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dirty="0"/>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91275" y="1638300"/>
            <a:ext cx="15082325" cy="954107"/>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r>
              <a:rPr lang="en-US" sz="2800" dirty="0"/>
              <a:t>Registered Page :</a:t>
            </a:r>
          </a:p>
        </p:txBody>
      </p:sp>
      <p:pic>
        <p:nvPicPr>
          <p:cNvPr id="3" name="Picture 2">
            <a:extLst>
              <a:ext uri="{FF2B5EF4-FFF2-40B4-BE49-F238E27FC236}">
                <a16:creationId xmlns:a16="http://schemas.microsoft.com/office/drawing/2014/main" id="{68163CF5-63A7-0B1A-C004-2335F4470CE5}"/>
              </a:ext>
            </a:extLst>
          </p:cNvPr>
          <p:cNvPicPr>
            <a:picLocks noChangeAspect="1"/>
          </p:cNvPicPr>
          <p:nvPr/>
        </p:nvPicPr>
        <p:blipFill>
          <a:blip r:embed="rId4"/>
          <a:stretch>
            <a:fillRect/>
          </a:stretch>
        </p:blipFill>
        <p:spPr>
          <a:xfrm>
            <a:off x="4152900" y="2648112"/>
            <a:ext cx="9906000" cy="745463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230437-3F36-291E-DE7B-E620E05638E4}"/>
              </a:ext>
            </a:extLst>
          </p:cNvPr>
          <p:cNvSpPr txBox="1"/>
          <p:nvPr/>
        </p:nvSpPr>
        <p:spPr>
          <a:xfrm>
            <a:off x="3962400" y="419100"/>
            <a:ext cx="9144000" cy="646331"/>
          </a:xfrm>
          <a:prstGeom prst="rect">
            <a:avLst/>
          </a:prstGeom>
          <a:noFill/>
        </p:spPr>
        <p:txBody>
          <a:bodyPr wrap="square">
            <a:spAutoFit/>
          </a:bodyPr>
          <a:lstStyle/>
          <a:p>
            <a:pPr algn="ctr"/>
            <a:r>
              <a:rPr lang="en-US" sz="3600" b="1" dirty="0">
                <a:solidFill>
                  <a:srgbClr val="0033CC"/>
                </a:solidFill>
                <a:latin typeface="Times New Roman" panose="02020603050405020304" pitchFamily="18" charset="0"/>
                <a:cs typeface="Times New Roman" panose="02020603050405020304" pitchFamily="18" charset="0"/>
              </a:rPr>
              <a:t>IMPLEMENTATION SCREENSHOTS</a:t>
            </a:r>
            <a:endParaRPr lang="en-IN" sz="3600" b="1" dirty="0">
              <a:solidFill>
                <a:srgbClr val="0033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1E304D8-B5D9-F137-E114-74CEDD8653DA}"/>
              </a:ext>
            </a:extLst>
          </p:cNvPr>
          <p:cNvPicPr>
            <a:picLocks noChangeAspect="1"/>
          </p:cNvPicPr>
          <p:nvPr/>
        </p:nvPicPr>
        <p:blipFill>
          <a:blip r:embed="rId2"/>
          <a:stretch>
            <a:fillRect/>
          </a:stretch>
        </p:blipFill>
        <p:spPr>
          <a:xfrm>
            <a:off x="3048000" y="2476500"/>
            <a:ext cx="11621456" cy="7620000"/>
          </a:xfrm>
          <a:prstGeom prst="rect">
            <a:avLst/>
          </a:prstGeom>
        </p:spPr>
      </p:pic>
      <p:sp>
        <p:nvSpPr>
          <p:cNvPr id="8" name="Title 7">
            <a:extLst>
              <a:ext uri="{FF2B5EF4-FFF2-40B4-BE49-F238E27FC236}">
                <a16:creationId xmlns:a16="http://schemas.microsoft.com/office/drawing/2014/main" id="{7E2D773B-E35D-5AA2-992C-B4EF1518AD23}"/>
              </a:ext>
            </a:extLst>
          </p:cNvPr>
          <p:cNvSpPr>
            <a:spLocks noGrp="1"/>
          </p:cNvSpPr>
          <p:nvPr>
            <p:ph type="title"/>
          </p:nvPr>
        </p:nvSpPr>
        <p:spPr>
          <a:xfrm>
            <a:off x="4114800" y="1065431"/>
            <a:ext cx="8229600" cy="1143000"/>
          </a:xfrm>
        </p:spPr>
        <p:txBody>
          <a:bodyPr>
            <a:normAutofit/>
          </a:bodyPr>
          <a:lstStyle/>
          <a:p>
            <a:r>
              <a:rPr lang="en-IN" dirty="0"/>
              <a:t>Firebase </a:t>
            </a:r>
            <a:r>
              <a:rPr lang="en-IN" dirty="0" err="1"/>
              <a:t>ScreenShot</a:t>
            </a:r>
            <a:endParaRPr lang="en-IN" dirty="0"/>
          </a:p>
        </p:txBody>
      </p:sp>
    </p:spTree>
    <p:extLst>
      <p:ext uri="{BB962C8B-B14F-4D97-AF65-F5344CB8AC3E}">
        <p14:creationId xmlns:p14="http://schemas.microsoft.com/office/powerpoint/2010/main" val="3371410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60FC4C1-57AE-5499-A631-84A76A6A1E26}"/>
              </a:ext>
            </a:extLst>
          </p:cNvPr>
          <p:cNvSpPr txBox="1"/>
          <p:nvPr/>
        </p:nvSpPr>
        <p:spPr>
          <a:xfrm>
            <a:off x="1728051" y="1982349"/>
            <a:ext cx="15207417" cy="7017306"/>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Advantages</a:t>
            </a:r>
            <a:r>
              <a:rPr lang="en-US" sz="2800" b="1"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Easy online registration</a:t>
            </a:r>
            <a:r>
              <a:rPr lang="en-US" sz="2800" dirty="0">
                <a:latin typeface="Times New Roman" panose="02020603050405020304" pitchFamily="18" charset="0"/>
                <a:cs typeface="Times New Roman" panose="02020603050405020304" pitchFamily="18" charset="0"/>
              </a:rPr>
              <a:t> – Students can register for events quickly through the web portal. </a:t>
            </a:r>
          </a:p>
          <a:p>
            <a:r>
              <a:rPr lang="en-US" sz="2800" b="1" dirty="0">
                <a:latin typeface="Times New Roman" panose="02020603050405020304" pitchFamily="18" charset="0"/>
                <a:cs typeface="Times New Roman" panose="02020603050405020304" pitchFamily="18" charset="0"/>
              </a:rPr>
              <a:t>Centralized data management</a:t>
            </a:r>
            <a:r>
              <a:rPr lang="en-US" sz="2800" dirty="0">
                <a:latin typeface="Times New Roman" panose="02020603050405020304" pitchFamily="18" charset="0"/>
                <a:cs typeface="Times New Roman" panose="02020603050405020304" pitchFamily="18" charset="0"/>
              </a:rPr>
              <a:t> – All event and student details are stored in one database. </a:t>
            </a:r>
          </a:p>
          <a:p>
            <a:r>
              <a:rPr lang="en-US" sz="2800" b="1" dirty="0">
                <a:latin typeface="Times New Roman" panose="02020603050405020304" pitchFamily="18" charset="0"/>
                <a:cs typeface="Times New Roman" panose="02020603050405020304" pitchFamily="18" charset="0"/>
              </a:rPr>
              <a:t>Reduces manual work</a:t>
            </a:r>
            <a:r>
              <a:rPr lang="en-US" sz="2800" dirty="0">
                <a:latin typeface="Times New Roman" panose="02020603050405020304" pitchFamily="18" charset="0"/>
                <a:cs typeface="Times New Roman" panose="02020603050405020304" pitchFamily="18" charset="0"/>
              </a:rPr>
              <a:t> – Eliminates paper forms and manual data entry. </a:t>
            </a:r>
          </a:p>
          <a:p>
            <a:r>
              <a:rPr lang="en-US" sz="2800" b="1" dirty="0">
                <a:latin typeface="Times New Roman" panose="02020603050405020304" pitchFamily="18" charset="0"/>
                <a:cs typeface="Times New Roman" panose="02020603050405020304" pitchFamily="18" charset="0"/>
              </a:rPr>
              <a:t>Faster event management</a:t>
            </a:r>
            <a:r>
              <a:rPr lang="en-US" sz="2800" dirty="0">
                <a:latin typeface="Times New Roman" panose="02020603050405020304" pitchFamily="18" charset="0"/>
                <a:cs typeface="Times New Roman" panose="02020603050405020304" pitchFamily="18" charset="0"/>
              </a:rPr>
              <a:t> – Organizers can easily track participant registrations. </a:t>
            </a:r>
          </a:p>
          <a:p>
            <a:r>
              <a:rPr lang="en-US" sz="2800" b="1" dirty="0">
                <a:latin typeface="Times New Roman" panose="02020603050405020304" pitchFamily="18" charset="0"/>
                <a:cs typeface="Times New Roman" panose="02020603050405020304" pitchFamily="18" charset="0"/>
              </a:rPr>
              <a:t>Accurate data storage</a:t>
            </a:r>
            <a:r>
              <a:rPr lang="en-US" sz="2800" dirty="0">
                <a:latin typeface="Times New Roman" panose="02020603050405020304" pitchFamily="18" charset="0"/>
                <a:cs typeface="Times New Roman" panose="02020603050405020304" pitchFamily="18" charset="0"/>
              </a:rPr>
              <a:t> – Reduces errors and duplicate registrations. </a:t>
            </a:r>
          </a:p>
          <a:p>
            <a:r>
              <a:rPr lang="en-US" sz="2800" b="1" dirty="0">
                <a:latin typeface="Times New Roman" panose="02020603050405020304" pitchFamily="18" charset="0"/>
                <a:cs typeface="Times New Roman" panose="02020603050405020304" pitchFamily="18" charset="0"/>
              </a:rPr>
              <a:t>Easy access to event information</a:t>
            </a:r>
            <a:r>
              <a:rPr lang="en-US" sz="2800" dirty="0">
                <a:latin typeface="Times New Roman" panose="02020603050405020304" pitchFamily="18" charset="0"/>
                <a:cs typeface="Times New Roman" panose="02020603050405020304" pitchFamily="18" charset="0"/>
              </a:rPr>
              <a:t> – Students can view event details anytime.</a:t>
            </a:r>
          </a:p>
          <a:p>
            <a:endParaRPr lang="en-US" sz="2800" dirty="0">
              <a:latin typeface="Times New Roman" panose="02020603050405020304" pitchFamily="18" charset="0"/>
              <a:cs typeface="Times New Roman" panose="02020603050405020304" pitchFamily="18" charset="0"/>
            </a:endParaRPr>
          </a:p>
          <a:p>
            <a:r>
              <a:rPr lang="en-US" sz="3000" b="1" dirty="0">
                <a:latin typeface="Times New Roman" panose="02020603050405020304" pitchFamily="18" charset="0"/>
                <a:cs typeface="Times New Roman" panose="02020603050405020304" pitchFamily="18" charset="0"/>
              </a:rPr>
              <a:t>Limitations:</a:t>
            </a:r>
          </a:p>
          <a:p>
            <a:r>
              <a:rPr lang="en-US" sz="2800" b="1" dirty="0">
                <a:latin typeface="Times New Roman" panose="02020603050405020304" pitchFamily="18" charset="0"/>
                <a:cs typeface="Times New Roman" panose="02020603050405020304" pitchFamily="18" charset="0"/>
              </a:rPr>
              <a:t>Internet dependency</a:t>
            </a:r>
            <a:r>
              <a:rPr lang="en-US" sz="2800" dirty="0">
                <a:latin typeface="Times New Roman" panose="02020603050405020304" pitchFamily="18" charset="0"/>
                <a:cs typeface="Times New Roman" panose="02020603050405020304" pitchFamily="18" charset="0"/>
              </a:rPr>
              <a:t> – The system requires an internet connection to access the portal. </a:t>
            </a:r>
          </a:p>
          <a:p>
            <a:r>
              <a:rPr lang="en-US" sz="2800" b="1" dirty="0">
                <a:latin typeface="Times New Roman" panose="02020603050405020304" pitchFamily="18" charset="0"/>
                <a:cs typeface="Times New Roman" panose="02020603050405020304" pitchFamily="18" charset="0"/>
              </a:rPr>
              <a:t>Basic security limitations</a:t>
            </a:r>
            <a:r>
              <a:rPr lang="en-US" sz="2800" dirty="0">
                <a:latin typeface="Times New Roman" panose="02020603050405020304" pitchFamily="18" charset="0"/>
                <a:cs typeface="Times New Roman" panose="02020603050405020304" pitchFamily="18" charset="0"/>
              </a:rPr>
              <a:t> – Without advanced authentication, data security may be limited. </a:t>
            </a:r>
          </a:p>
          <a:p>
            <a:r>
              <a:rPr lang="en-US" sz="2800" b="1" dirty="0">
                <a:latin typeface="Times New Roman" panose="02020603050405020304" pitchFamily="18" charset="0"/>
                <a:cs typeface="Times New Roman" panose="02020603050405020304" pitchFamily="18" charset="0"/>
              </a:rPr>
              <a:t>Limited functionality</a:t>
            </a:r>
            <a:r>
              <a:rPr lang="en-US" sz="2800" dirty="0">
                <a:latin typeface="Times New Roman" panose="02020603050405020304" pitchFamily="18" charset="0"/>
                <a:cs typeface="Times New Roman" panose="02020603050405020304" pitchFamily="18" charset="0"/>
              </a:rPr>
              <a:t> – The system mainly focuses on registration and may not include advanced event management features. </a:t>
            </a:r>
          </a:p>
          <a:p>
            <a:r>
              <a:rPr lang="en-US" sz="2800" b="1" dirty="0">
                <a:latin typeface="Times New Roman" panose="02020603050405020304" pitchFamily="18" charset="0"/>
                <a:cs typeface="Times New Roman" panose="02020603050405020304" pitchFamily="18" charset="0"/>
              </a:rPr>
              <a:t>User dependency</a:t>
            </a:r>
            <a:r>
              <a:rPr lang="en-US" sz="2800" dirty="0">
                <a:latin typeface="Times New Roman" panose="02020603050405020304" pitchFamily="18" charset="0"/>
                <a:cs typeface="Times New Roman" panose="02020603050405020304" pitchFamily="18" charset="0"/>
              </a:rPr>
              <a:t> – Incorrect data entry by students may lead to inaccurate records.</a:t>
            </a:r>
          </a:p>
          <a:p>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431</TotalTime>
  <Words>1123</Words>
  <Application>Microsoft Office PowerPoint</Application>
  <PresentationFormat>Custom</PresentationFormat>
  <Paragraphs>225</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Gotham</vt:lpstr>
      <vt:lpstr>Gotham Bold Italics</vt:lpstr>
      <vt:lpstr>Bookman Old Style</vt:lpstr>
      <vt:lpstr>Arial</vt:lpstr>
      <vt:lpstr>Calibri</vt:lpstr>
      <vt:lpstr>Times New Roman</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Firebase ScreenShot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D vamsi</cp:lastModifiedBy>
  <cp:revision>11</cp:revision>
  <dcterms:created xsi:type="dcterms:W3CDTF">2006-08-16T00:00:00Z</dcterms:created>
  <dcterms:modified xsi:type="dcterms:W3CDTF">2026-03-25T05:38:50Z</dcterms:modified>
  <dc:identifier>DAHCaYqJ9OU</dc:identifier>
</cp:coreProperties>
</file>